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5" r:id="rId4"/>
    <p:sldMasterId id="2147483808" r:id="rId5"/>
  </p:sldMasterIdLst>
  <p:notesMasterIdLst>
    <p:notesMasterId r:id="rId21"/>
  </p:notesMasterIdLst>
  <p:handoutMasterIdLst>
    <p:handoutMasterId r:id="rId22"/>
  </p:handoutMasterIdLst>
  <p:sldIdLst>
    <p:sldId id="256" r:id="rId6"/>
    <p:sldId id="2146847307" r:id="rId7"/>
    <p:sldId id="2146847327" r:id="rId8"/>
    <p:sldId id="2146847306" r:id="rId9"/>
    <p:sldId id="2146847323" r:id="rId10"/>
    <p:sldId id="2146847328" r:id="rId11"/>
    <p:sldId id="2146847329" r:id="rId12"/>
    <p:sldId id="2146847330" r:id="rId13"/>
    <p:sldId id="2146847331" r:id="rId14"/>
    <p:sldId id="2146847332" r:id="rId15"/>
    <p:sldId id="2146847333" r:id="rId16"/>
    <p:sldId id="2146847334" r:id="rId17"/>
    <p:sldId id="2146847335" r:id="rId18"/>
    <p:sldId id="2146847336" r:id="rId19"/>
    <p:sldId id="2146847337" r:id="rId2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pos="1901" userDrawn="1">
          <p15:clr>
            <a:srgbClr val="A4A3A4"/>
          </p15:clr>
        </p15:guide>
        <p15:guide id="5" pos="2074" userDrawn="1">
          <p15:clr>
            <a:srgbClr val="A4A3A4"/>
          </p15:clr>
        </p15:guide>
        <p15:guide id="6" pos="2794" userDrawn="1">
          <p15:clr>
            <a:srgbClr val="A4A3A4"/>
          </p15:clr>
        </p15:guide>
        <p15:guide id="7" pos="2966" userDrawn="1">
          <p15:clr>
            <a:srgbClr val="A4A3A4"/>
          </p15:clr>
        </p15:guide>
        <p15:guide id="8" pos="3686" userDrawn="1">
          <p15:clr>
            <a:srgbClr val="A4A3A4"/>
          </p15:clr>
        </p15:guide>
        <p15:guide id="9" pos="3859" userDrawn="1">
          <p15:clr>
            <a:srgbClr val="A4A3A4"/>
          </p15:clr>
        </p15:guide>
        <p15:guide id="10" pos="4666" userDrawn="1">
          <p15:clr>
            <a:srgbClr val="A4A3A4"/>
          </p15:clr>
        </p15:guide>
        <p15:guide id="11" pos="5472" userDrawn="1">
          <p15:clr>
            <a:srgbClr val="A4A3A4"/>
          </p15:clr>
        </p15:guide>
        <p15:guide id="12" orient="horz" pos="776" userDrawn="1">
          <p15:clr>
            <a:srgbClr val="A4A3A4"/>
          </p15:clr>
        </p15:guide>
        <p15:guide id="14" orient="horz" pos="2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C3"/>
    <a:srgbClr val="00A3C9"/>
    <a:srgbClr val="2D63FF"/>
    <a:srgbClr val="002284"/>
    <a:srgbClr val="001E74"/>
    <a:srgbClr val="006ECD"/>
    <a:srgbClr val="00B0F0"/>
    <a:srgbClr val="0343FF"/>
    <a:srgbClr val="001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CC556-036F-4FDC-AB05-D099A93502A9}" v="1" dt="2022-04-19T23:39:52.319"/>
  </p1510:revLst>
</p1510:revInfo>
</file>

<file path=ppt/tableStyles.xml><?xml version="1.0" encoding="utf-8"?>
<a:tblStyleLst xmlns:a="http://schemas.openxmlformats.org/drawingml/2006/main" def="{4387721D-A935-42BD-90D4-847FC8F4EC81}">
  <a:tblStyle styleId="{4387721D-A935-42BD-90D4-847FC8F4EC81}" styleName="Amex Table">
    <a:wholeTbl>
      <a:tcTxStyle>
        <a:fontRef idx="minor"/>
        <a:srgbClr val="53565A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3565A"/>
              </a:solidFill>
            </a:ln>
          </a:top>
          <a:bottom>
            <a:ln w="6350">
              <a:solidFill>
                <a:srgbClr val="53565A"/>
              </a:solidFill>
            </a:ln>
          </a:bottom>
          <a:insideH>
            <a:ln w="6350">
              <a:solidFill>
                <a:srgbClr val="53565A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Style>
        <a:tcBdr>
          <a:top>
            <a:ln w="19050">
              <a:solidFill>
                <a:srgbClr val="53565A"/>
              </a:solidFill>
            </a:ln>
          </a:top>
          <a:bottom>
            <a:ln>
              <a:noFill/>
            </a:ln>
          </a:bottom>
        </a:tcBdr>
      </a:tcStyle>
    </a:lastRow>
    <a:firstRow>
      <a:tcStyle>
        <a:tcBdr>
          <a:top>
            <a:ln>
              <a:noFill/>
            </a:ln>
          </a:top>
          <a:bottom>
            <a:ln w="19050">
              <a:solidFill>
                <a:srgbClr val="53565A"/>
              </a:solidFill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19"/>
    <p:restoredTop sz="94694"/>
  </p:normalViewPr>
  <p:slideViewPr>
    <p:cSldViewPr snapToGrid="0">
      <p:cViewPr varScale="1">
        <p:scale>
          <a:sx n="161" d="100"/>
          <a:sy n="161" d="100"/>
        </p:scale>
        <p:origin x="1128" y="200"/>
      </p:cViewPr>
      <p:guideLst>
        <p:guide orient="horz" pos="259"/>
        <p:guide pos="2880"/>
        <p:guide pos="288"/>
        <p:guide pos="1901"/>
        <p:guide pos="2074"/>
        <p:guide pos="2794"/>
        <p:guide pos="2966"/>
        <p:guide pos="3686"/>
        <p:guide pos="3859"/>
        <p:guide pos="4666"/>
        <p:guide pos="5472"/>
        <p:guide orient="horz" pos="776"/>
        <p:guide orient="horz" pos="27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cey L Wilcox" userId="514f6707-7a48-4de5-96d6-5b9249fc5d71" providerId="ADAL" clId="{394CC556-036F-4FDC-AB05-D099A93502A9}"/>
    <pc:docChg chg="custSel delSld modSld delMainMaster">
      <pc:chgData name="Stacey L Wilcox" userId="514f6707-7a48-4de5-96d6-5b9249fc5d71" providerId="ADAL" clId="{394CC556-036F-4FDC-AB05-D099A93502A9}" dt="2022-04-19T23:40:16.464" v="40" actId="47"/>
      <pc:docMkLst>
        <pc:docMk/>
      </pc:docMkLst>
      <pc:sldChg chg="modSp mod">
        <pc:chgData name="Stacey L Wilcox" userId="514f6707-7a48-4de5-96d6-5b9249fc5d71" providerId="ADAL" clId="{394CC556-036F-4FDC-AB05-D099A93502A9}" dt="2022-04-19T23:39:35.850" v="18" actId="20577"/>
        <pc:sldMkLst>
          <pc:docMk/>
          <pc:sldMk cId="84904995" sldId="256"/>
        </pc:sldMkLst>
        <pc:spChg chg="mod">
          <ac:chgData name="Stacey L Wilcox" userId="514f6707-7a48-4de5-96d6-5b9249fc5d71" providerId="ADAL" clId="{394CC556-036F-4FDC-AB05-D099A93502A9}" dt="2022-04-19T23:39:30.907" v="8" actId="20577"/>
          <ac:spMkLst>
            <pc:docMk/>
            <pc:sldMk cId="84904995" sldId="256"/>
            <ac:spMk id="2" creationId="{2B439FFC-8350-1D46-9631-40E09A17E999}"/>
          </ac:spMkLst>
        </pc:spChg>
        <pc:spChg chg="mod">
          <ac:chgData name="Stacey L Wilcox" userId="514f6707-7a48-4de5-96d6-5b9249fc5d71" providerId="ADAL" clId="{394CC556-036F-4FDC-AB05-D099A93502A9}" dt="2022-04-19T23:39:35.850" v="18" actId="20577"/>
          <ac:spMkLst>
            <pc:docMk/>
            <pc:sldMk cId="84904995" sldId="256"/>
            <ac:spMk id="3" creationId="{F2075074-8BB1-ED46-B656-AB4D940A0469}"/>
          </ac:spMkLst>
        </pc:spChg>
      </pc:sldChg>
      <pc:sldChg chg="del">
        <pc:chgData name="Stacey L Wilcox" userId="514f6707-7a48-4de5-96d6-5b9249fc5d71" providerId="ADAL" clId="{394CC556-036F-4FDC-AB05-D099A93502A9}" dt="2022-04-19T23:40:12.379" v="36" actId="47"/>
        <pc:sldMkLst>
          <pc:docMk/>
          <pc:sldMk cId="806394810" sldId="717"/>
        </pc:sldMkLst>
      </pc:sldChg>
      <pc:sldChg chg="delSp modSp mod">
        <pc:chgData name="Stacey L Wilcox" userId="514f6707-7a48-4de5-96d6-5b9249fc5d71" providerId="ADAL" clId="{394CC556-036F-4FDC-AB05-D099A93502A9}" dt="2022-04-19T23:40:06.843" v="34" actId="20577"/>
        <pc:sldMkLst>
          <pc:docMk/>
          <pc:sldMk cId="3122188797" sldId="2146847306"/>
        </pc:sldMkLst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" creationId="{34EF6787-A771-456C-94AA-7343600983A3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" creationId="{FBF84C3A-61CE-43BB-95EF-AEA7345FE9EB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6" creationId="{5E280400-AD0D-446F-9FAD-8B68904E6FEE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8" creationId="{36C9A074-E79E-4B42-8D3E-9C6C59C378AB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11" creationId="{9A139751-70B4-468A-8FED-E59D69DD6E5D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17" creationId="{6EE6A5C9-E2DF-4FC6-ACB0-88E1F65E58E8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1" creationId="{20E64E89-CD85-4646-B2F3-9F99D413E4C7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2" creationId="{6F495144-28BF-4BBB-A2A5-5A479F65F79C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3" creationId="{71204238-53CF-4845-9F46-3539DAEBC113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7" creationId="{E742E0F9-3EFD-409C-9633-515BB180A5D9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8" creationId="{E79FB360-B66A-4788-AE98-82DF5390B376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29" creationId="{AD5E76CC-2FFB-4C5C-86B4-8BEEC01B32B5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0" creationId="{6AEE4D8B-CE80-4C0F-8190-B5ECB49928CD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1" creationId="{1F8334C8-D75B-4992-8C7E-EB38A22E1366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2" creationId="{FA24D165-0F19-439E-BCCF-F989D8446E40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3" creationId="{339A7229-DA73-4592-81F7-43E56E0BE6D9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4" creationId="{01A52562-1D69-47A0-BEEB-DABCAA7E9AAF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5" creationId="{9599763B-0152-4162-9560-6A211A00385A}"/>
          </ac:spMkLst>
        </pc:spChg>
        <pc:spChg chg="mod">
          <ac:chgData name="Stacey L Wilcox" userId="514f6707-7a48-4de5-96d6-5b9249fc5d71" providerId="ADAL" clId="{394CC556-036F-4FDC-AB05-D099A93502A9}" dt="2022-04-19T23:40:06.843" v="34" actId="20577"/>
          <ac:spMkLst>
            <pc:docMk/>
            <pc:sldMk cId="3122188797" sldId="2146847306"/>
            <ac:spMk id="36" creationId="{B796AD7B-2D07-4BD3-A2DA-D4DC3756A84B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7" creationId="{B9519BFD-AC1A-4724-8E7D-D4B429732554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8" creationId="{10B4E062-E741-43B1-8C01-9C6BD658082D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39" creationId="{6652AC5C-E5D3-44C5-A1D1-A4E5F346F978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41" creationId="{CB8ACE02-DBE3-46F1-AB36-AB07FB28C572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42" creationId="{3016F463-ACB9-4ACF-9022-4C2E8CED90BF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43" creationId="{AF406FA9-0205-4691-84D3-43DFBC3FB18C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50" creationId="{0255BA35-871D-4F25-A262-054E62767122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52" creationId="{51CC048E-0408-401B-8DF5-115E406DCF37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54" creationId="{06CE4C3D-5056-4558-A545-4530EB4312A0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56" creationId="{22AD7026-6B85-499A-AA4D-4E08D1D44ACB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58" creationId="{A73180D3-CB50-4D5F-8A3D-C4DA1130F6B6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60" creationId="{9D8D99DD-92E0-4DEB-9FE3-1D6B1FE05CDB}"/>
          </ac:spMkLst>
        </pc:spChg>
        <pc:spChg chg="del">
          <ac:chgData name="Stacey L Wilcox" userId="514f6707-7a48-4de5-96d6-5b9249fc5d71" providerId="ADAL" clId="{394CC556-036F-4FDC-AB05-D099A93502A9}" dt="2022-04-19T23:39:52.319" v="21" actId="478"/>
          <ac:spMkLst>
            <pc:docMk/>
            <pc:sldMk cId="3122188797" sldId="2146847306"/>
            <ac:spMk id="61" creationId="{974EAA04-1995-4C16-AAB2-1BE35DF16E5C}"/>
          </ac:spMkLst>
        </pc:spChg>
        <pc:spChg chg="mod">
          <ac:chgData name="Stacey L Wilcox" userId="514f6707-7a48-4de5-96d6-5b9249fc5d71" providerId="ADAL" clId="{394CC556-036F-4FDC-AB05-D099A93502A9}" dt="2022-04-19T23:40:02.315" v="28" actId="20577"/>
          <ac:spMkLst>
            <pc:docMk/>
            <pc:sldMk cId="3122188797" sldId="2146847306"/>
            <ac:spMk id="63" creationId="{4A787635-1358-42DC-BB76-59C10F34F42A}"/>
          </ac:spMkLst>
        </pc:spChg>
        <pc:picChg chg="del">
          <ac:chgData name="Stacey L Wilcox" userId="514f6707-7a48-4de5-96d6-5b9249fc5d71" providerId="ADAL" clId="{394CC556-036F-4FDC-AB05-D099A93502A9}" dt="2022-04-19T23:39:43.248" v="19" actId="478"/>
          <ac:picMkLst>
            <pc:docMk/>
            <pc:sldMk cId="3122188797" sldId="2146847306"/>
            <ac:picMk id="40" creationId="{3CF76805-50D4-4F01-A69B-71673E64D57B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44" creationId="{95E3AE26-C744-4E53-AD42-D3CF857BDC79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45" creationId="{8AE3DACB-78BB-4FD9-902E-948EF11A4EC7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46" creationId="{90637F7E-A0B4-4BFE-B155-449F656A66D2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47" creationId="{2915C82F-CA9A-4E85-9BAF-1084BF923DAD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48" creationId="{E5FC1EAC-3902-4BBD-AD1A-52CFE36DD5A1}"/>
          </ac:picMkLst>
        </pc:picChg>
        <pc:picChg chg="del">
          <ac:chgData name="Stacey L Wilcox" userId="514f6707-7a48-4de5-96d6-5b9249fc5d71" providerId="ADAL" clId="{394CC556-036F-4FDC-AB05-D099A93502A9}" dt="2022-04-19T23:39:53.819" v="22" actId="478"/>
          <ac:picMkLst>
            <pc:docMk/>
            <pc:sldMk cId="3122188797" sldId="2146847306"/>
            <ac:picMk id="49" creationId="{A6D2EBF5-800D-45AB-A549-C35ED9C5D60D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51" creationId="{4D65014A-9359-4C69-9536-D70C767351E8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53" creationId="{11841E4B-4C7C-4ABA-84DC-1A8A0A534C91}"/>
          </ac:picMkLst>
        </pc:picChg>
        <pc:picChg chg="del">
          <ac:chgData name="Stacey L Wilcox" userId="514f6707-7a48-4de5-96d6-5b9249fc5d71" providerId="ADAL" clId="{394CC556-036F-4FDC-AB05-D099A93502A9}" dt="2022-04-19T23:39:52.319" v="21" actId="478"/>
          <ac:picMkLst>
            <pc:docMk/>
            <pc:sldMk cId="3122188797" sldId="2146847306"/>
            <ac:picMk id="55" creationId="{286A4DDC-4E1E-4852-85AE-9DEFE989A432}"/>
          </ac:picMkLst>
        </pc:picChg>
      </pc:sldChg>
      <pc:sldChg chg="del">
        <pc:chgData name="Stacey L Wilcox" userId="514f6707-7a48-4de5-96d6-5b9249fc5d71" providerId="ADAL" clId="{394CC556-036F-4FDC-AB05-D099A93502A9}" dt="2022-04-19T23:40:11.582" v="35" actId="47"/>
        <pc:sldMkLst>
          <pc:docMk/>
          <pc:sldMk cId="166734914" sldId="2146847310"/>
        </pc:sldMkLst>
      </pc:sldChg>
      <pc:sldChg chg="del">
        <pc:chgData name="Stacey L Wilcox" userId="514f6707-7a48-4de5-96d6-5b9249fc5d71" providerId="ADAL" clId="{394CC556-036F-4FDC-AB05-D099A93502A9}" dt="2022-04-19T23:40:13.061" v="37" actId="47"/>
        <pc:sldMkLst>
          <pc:docMk/>
          <pc:sldMk cId="1548333409" sldId="2146847311"/>
        </pc:sldMkLst>
      </pc:sldChg>
      <pc:sldChg chg="del">
        <pc:chgData name="Stacey L Wilcox" userId="514f6707-7a48-4de5-96d6-5b9249fc5d71" providerId="ADAL" clId="{394CC556-036F-4FDC-AB05-D099A93502A9}" dt="2022-04-19T23:40:15.324" v="38" actId="47"/>
        <pc:sldMkLst>
          <pc:docMk/>
          <pc:sldMk cId="3720619422" sldId="2147376541"/>
        </pc:sldMkLst>
      </pc:sldChg>
      <pc:sldChg chg="del">
        <pc:chgData name="Stacey L Wilcox" userId="514f6707-7a48-4de5-96d6-5b9249fc5d71" providerId="ADAL" clId="{394CC556-036F-4FDC-AB05-D099A93502A9}" dt="2022-04-19T23:40:16.041" v="39" actId="47"/>
        <pc:sldMkLst>
          <pc:docMk/>
          <pc:sldMk cId="619151160" sldId="2147376542"/>
        </pc:sldMkLst>
      </pc:sldChg>
      <pc:sldChg chg="del">
        <pc:chgData name="Stacey L Wilcox" userId="514f6707-7a48-4de5-96d6-5b9249fc5d71" providerId="ADAL" clId="{394CC556-036F-4FDC-AB05-D099A93502A9}" dt="2022-04-19T23:40:16.464" v="40" actId="47"/>
        <pc:sldMkLst>
          <pc:docMk/>
          <pc:sldMk cId="2893085530" sldId="2147376543"/>
        </pc:sldMkLst>
      </pc:sldChg>
      <pc:sldMasterChg chg="delSldLayout">
        <pc:chgData name="Stacey L Wilcox" userId="514f6707-7a48-4de5-96d6-5b9249fc5d71" providerId="ADAL" clId="{394CC556-036F-4FDC-AB05-D099A93502A9}" dt="2022-04-19T23:40:13.061" v="37" actId="47"/>
        <pc:sldMasterMkLst>
          <pc:docMk/>
          <pc:sldMasterMk cId="238086075" sldId="2147483648"/>
        </pc:sldMasterMkLst>
        <pc:sldLayoutChg chg="del">
          <pc:chgData name="Stacey L Wilcox" userId="514f6707-7a48-4de5-96d6-5b9249fc5d71" providerId="ADAL" clId="{394CC556-036F-4FDC-AB05-D099A93502A9}" dt="2022-04-19T23:40:13.061" v="37" actId="47"/>
          <pc:sldLayoutMkLst>
            <pc:docMk/>
            <pc:sldMasterMk cId="238086075" sldId="2147483648"/>
            <pc:sldLayoutMk cId="514255509" sldId="2147483782"/>
          </pc:sldLayoutMkLst>
        </pc:sldLayoutChg>
      </pc:sldMasterChg>
      <pc:sldMasterChg chg="del delSldLayout">
        <pc:chgData name="Stacey L Wilcox" userId="514f6707-7a48-4de5-96d6-5b9249fc5d71" providerId="ADAL" clId="{394CC556-036F-4FDC-AB05-D099A93502A9}" dt="2022-04-19T23:40:15.324" v="38" actId="47"/>
        <pc:sldMasterMkLst>
          <pc:docMk/>
          <pc:sldMasterMk cId="27169338" sldId="2147483775"/>
        </pc:sldMasterMkLst>
        <pc:sldLayoutChg chg="del">
          <pc:chgData name="Stacey L Wilcox" userId="514f6707-7a48-4de5-96d6-5b9249fc5d71" providerId="ADAL" clId="{394CC556-036F-4FDC-AB05-D099A93502A9}" dt="2022-04-19T23:40:15.324" v="38" actId="47"/>
          <pc:sldLayoutMkLst>
            <pc:docMk/>
            <pc:sldMasterMk cId="27169338" sldId="2147483775"/>
            <pc:sldLayoutMk cId="392663379" sldId="2147483779"/>
          </pc:sldLayoutMkLst>
        </pc:sldLayoutChg>
      </pc:sldMasterChg>
      <pc:sldMasterChg chg="del delSldLayout">
        <pc:chgData name="Stacey L Wilcox" userId="514f6707-7a48-4de5-96d6-5b9249fc5d71" providerId="ADAL" clId="{394CC556-036F-4FDC-AB05-D099A93502A9}" dt="2022-04-19T23:40:16.464" v="40" actId="47"/>
        <pc:sldMasterMkLst>
          <pc:docMk/>
          <pc:sldMasterMk cId="3243100933" sldId="2147483795"/>
        </pc:sldMasterMkLst>
        <pc:sldLayoutChg chg="del">
          <pc:chgData name="Stacey L Wilcox" userId="514f6707-7a48-4de5-96d6-5b9249fc5d71" providerId="ADAL" clId="{394CC556-036F-4FDC-AB05-D099A93502A9}" dt="2022-04-19T23:40:16.464" v="40" actId="47"/>
          <pc:sldLayoutMkLst>
            <pc:docMk/>
            <pc:sldMasterMk cId="3243100933" sldId="2147483795"/>
            <pc:sldLayoutMk cId="623761564" sldId="214748379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A024A9-BFA6-AD4F-938A-F2F3F17ECB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77665-9EE1-E848-B93A-EEDACBB8BC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55F57-EA8A-164D-9550-113257393508}" type="datetimeFigureOut">
              <a:rPr lang="en-US" smtClean="0">
                <a:latin typeface="Arial" pitchFamily="34" charset="0"/>
              </a:rPr>
              <a:t>4/23/26</a:t>
            </a:fld>
            <a:endParaRPr lang="en-US">
              <a:latin typeface="Arial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D095A-A179-0F4C-BD7E-A9918AFDF6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484DB-4C3B-2E4F-BFF5-D7B1B63AC8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71E74-7C25-064A-A62E-E3EB940DB188}" type="slidenum">
              <a:rPr lang="en-US" smtClean="0">
                <a:latin typeface="Arial" pitchFamily="34" charset="0"/>
              </a:r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317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1C6CBF5-2F6C-474C-924B-3785A9C3D985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3E42A818-9AB2-D645-83B9-FA6BBE713B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2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228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685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1143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1600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A818-9AB2-D645-83B9-FA6BBE713B8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1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A818-9AB2-D645-83B9-FA6BBE713B8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6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877" y="283111"/>
            <a:ext cx="7739565" cy="747596"/>
          </a:xfrm>
        </p:spPr>
        <p:txBody>
          <a:bodyPr/>
          <a:lstStyle>
            <a:lvl1pPr>
              <a:defRPr sz="29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0384AA-0A71-E644-AEED-65CD2253F2C8}" type="slidenum">
              <a:rPr lang="en-US" smtClean="0">
                <a:solidFill>
                  <a:srgbClr val="006AD2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6AD2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146875" y="1197768"/>
            <a:ext cx="7833398" cy="3436015"/>
          </a:xfrm>
        </p:spPr>
        <p:txBody>
          <a:bodyPr lIns="0" tIns="0" rIns="0" bIns="0"/>
          <a:lstStyle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7593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75020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35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3644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093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1660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459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2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23475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2075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2793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013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9954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6513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675101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80840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07629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41228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 numCol="2" spcCol="274320"/>
          <a:lstStyle>
            <a:lvl1pPr marL="228600" indent="-2286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402336">
              <a:defRPr sz="1100"/>
            </a:lvl2pPr>
            <a:lvl3pPr marL="566928">
              <a:defRPr sz="1000"/>
            </a:lvl3pPr>
            <a:lvl4pPr marL="740664">
              <a:defRPr sz="900"/>
            </a:lvl4pPr>
            <a:lvl5pPr marL="914400">
              <a:defRPr sz="800"/>
            </a:lvl5pPr>
            <a:lvl6pPr marL="1088136">
              <a:defRPr/>
            </a:lvl6pPr>
            <a:lvl7pPr marL="1261872">
              <a:defRPr/>
            </a:lvl7pPr>
            <a:lvl8pPr marL="1426464">
              <a:defRPr/>
            </a:lvl8pPr>
            <a:lvl9pPr marL="1600200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5952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6950075" cy="3200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14607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6950075" cy="320040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9608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0"/>
            <a:ext cx="8229600" cy="40961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397748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318" y="1231900"/>
            <a:ext cx="3977481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422331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0"/>
            <a:ext cx="8229600" cy="68389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1632" cy="3203575"/>
          </a:xfrm>
        </p:spPr>
        <p:txBody>
          <a:bodyPr/>
          <a:lstStyle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184" y="1231900"/>
            <a:ext cx="2561632" cy="3203575"/>
          </a:xfrm>
        </p:spPr>
        <p:txBody>
          <a:bodyPr/>
          <a:lstStyle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25166" y="1231900"/>
            <a:ext cx="2561633" cy="3203575"/>
          </a:xfrm>
        </p:spPr>
        <p:txBody>
          <a:bodyPr/>
          <a:lstStyle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241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163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184" y="1231900"/>
            <a:ext cx="256163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25166" y="1231900"/>
            <a:ext cx="2561633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29164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2476" y="1231900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1803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162" y="1231900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698643" y="99659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1768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" y="1231900"/>
            <a:ext cx="8229600" cy="3203575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951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" y="1231900"/>
            <a:ext cx="8229600" cy="3203575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5081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2468880" y="3255264"/>
            <a:ext cx="6583680" cy="1885281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457200" y="1240530"/>
            <a:ext cx="3978275" cy="54554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-60" baseline="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914259"/>
            <a:ext cx="3978275" cy="25161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000">
                <a:solidFill>
                  <a:schemeClr val="tx1"/>
                </a:solidFill>
              </a:defRPr>
            </a:lvl2pPr>
            <a:lvl3pPr marL="176022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3pPr>
            <a:lvl4pPr marL="340614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4pPr>
            <a:lvl5pPr marL="51435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5pPr>
            <a:lvl6pPr marL="688086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6pPr>
            <a:lvl7pPr marL="852678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7pPr>
            <a:lvl8pPr marL="1026414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8pPr>
            <a:lvl9pPr marL="120015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9315" y="4531770"/>
            <a:ext cx="2002536" cy="347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255" y="4430395"/>
            <a:ext cx="550683" cy="550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F3CD05-6833-5642-9677-70D43F59C14C}"/>
              </a:ext>
            </a:extLst>
          </p:cNvPr>
          <p:cNvSpPr txBox="1"/>
          <p:nvPr userDrawn="1"/>
        </p:nvSpPr>
        <p:spPr>
          <a:xfrm>
            <a:off x="5638800" y="3714750"/>
            <a:ext cx="2468033" cy="4495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</a:pPr>
            <a:r>
              <a:rPr lang="en-US" sz="1800" b="1" i="0">
                <a:solidFill>
                  <a:srgbClr val="006FCF"/>
                </a:solidFill>
                <a:latin typeface="BentonSans LightItalic" panose="02000503000000020004" pitchFamily="2" charset="0"/>
              </a:rPr>
              <a:t>Backing </a:t>
            </a:r>
            <a:r>
              <a:rPr lang="en-US" sz="1800" b="0" i="0">
                <a:solidFill>
                  <a:srgbClr val="006FCF"/>
                </a:solidFill>
                <a:latin typeface="BentonSans Light" panose="02000503000000020004" pitchFamily="2" charset="0"/>
              </a:rPr>
              <a:t>You Today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</a:pPr>
            <a:r>
              <a:rPr lang="en-US" sz="1800" b="0" i="0">
                <a:solidFill>
                  <a:srgbClr val="006FCF"/>
                </a:solidFill>
                <a:latin typeface="BentonSans Light" panose="02000503000000020004" pitchFamily="2" charset="0"/>
              </a:rPr>
              <a:t>To </a:t>
            </a:r>
            <a:r>
              <a:rPr lang="en-US" sz="1800" b="1" i="0">
                <a:solidFill>
                  <a:srgbClr val="006FCF"/>
                </a:solidFill>
                <a:latin typeface="BentonSans LightItalic" panose="02000503000000020004" pitchFamily="2" charset="0"/>
              </a:rPr>
              <a:t>Power</a:t>
            </a:r>
            <a:r>
              <a:rPr lang="en-US" sz="1800" b="0" i="0">
                <a:solidFill>
                  <a:srgbClr val="006FCF"/>
                </a:solidFill>
                <a:latin typeface="BentonSans Light" panose="02000503000000020004" pitchFamily="2" charset="0"/>
              </a:rPr>
              <a:t> Tomorrow </a:t>
            </a:r>
            <a:endParaRPr lang="en-US" sz="1200" b="0" i="0">
              <a:solidFill>
                <a:srgbClr val="006FCF"/>
              </a:solidFill>
              <a:latin typeface="BentonSans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9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2468880" y="3255264"/>
            <a:ext cx="6583680" cy="1885281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457200" y="1240530"/>
            <a:ext cx="3978275" cy="54554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-60" baseline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9315" y="4531770"/>
            <a:ext cx="2002536" cy="347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255" y="4430395"/>
            <a:ext cx="550683" cy="55068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914259"/>
            <a:ext cx="3978275" cy="25161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000">
                <a:solidFill>
                  <a:schemeClr val="bg2"/>
                </a:solidFill>
              </a:defRPr>
            </a:lvl1pPr>
            <a:lvl2pPr marL="0" indent="-17145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000">
                <a:solidFill>
                  <a:schemeClr val="bg2"/>
                </a:solidFill>
              </a:defRPr>
            </a:lvl2pPr>
            <a:lvl3pPr marL="347472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3pPr>
            <a:lvl4pPr marL="512064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4pPr>
            <a:lvl5pPr marL="685800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5pPr>
            <a:lvl6pPr marL="859536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6pPr>
            <a:lvl7pPr marL="1024128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7pPr>
            <a:lvl8pPr marL="1197864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8pPr>
            <a:lvl9pPr marL="1371600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Optional contact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93648-A2ED-2646-B27E-E8E4AC291AD4}"/>
              </a:ext>
            </a:extLst>
          </p:cNvPr>
          <p:cNvSpPr txBox="1"/>
          <p:nvPr userDrawn="1"/>
        </p:nvSpPr>
        <p:spPr>
          <a:xfrm>
            <a:off x="5638800" y="3638550"/>
            <a:ext cx="2468033" cy="4495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</a:pPr>
            <a:r>
              <a:rPr lang="en-US" sz="1800" b="1" i="0">
                <a:solidFill>
                  <a:srgbClr val="006FCF"/>
                </a:solidFill>
                <a:latin typeface="BentonSans LightItalic" panose="02000503000000020004" pitchFamily="2" charset="0"/>
              </a:rPr>
              <a:t>Backing </a:t>
            </a:r>
            <a:r>
              <a:rPr lang="en-US" sz="1800" b="0" i="0">
                <a:solidFill>
                  <a:srgbClr val="006FCF"/>
                </a:solidFill>
                <a:latin typeface="BentonSans Light" panose="02000503000000020004" pitchFamily="2" charset="0"/>
              </a:rPr>
              <a:t>You Today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</a:pPr>
            <a:r>
              <a:rPr lang="en-US" sz="1800" b="0" i="0">
                <a:solidFill>
                  <a:srgbClr val="006FCF"/>
                </a:solidFill>
                <a:latin typeface="BentonSans Light" panose="02000503000000020004" pitchFamily="2" charset="0"/>
              </a:rPr>
              <a:t>To </a:t>
            </a:r>
            <a:r>
              <a:rPr lang="en-US" sz="1800" b="1" i="0">
                <a:solidFill>
                  <a:srgbClr val="006FCF"/>
                </a:solidFill>
                <a:latin typeface="BentonSans LightItalic" panose="02000503000000020004" pitchFamily="2" charset="0"/>
              </a:rPr>
              <a:t>Power</a:t>
            </a:r>
            <a:r>
              <a:rPr lang="en-US" sz="1800" b="0" i="0">
                <a:solidFill>
                  <a:srgbClr val="006FCF"/>
                </a:solidFill>
                <a:latin typeface="BentonSans Light" panose="02000503000000020004" pitchFamily="2" charset="0"/>
              </a:rPr>
              <a:t> Tomorrow </a:t>
            </a:r>
            <a:endParaRPr lang="en-US" sz="1200" b="0" i="0">
              <a:solidFill>
                <a:srgbClr val="006FCF"/>
              </a:solidFill>
              <a:latin typeface="BentonSans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3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387746" y="283111"/>
            <a:ext cx="8229600" cy="7475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87746" y="1030707"/>
            <a:ext cx="8229600" cy="3663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006741" y="4794515"/>
            <a:ext cx="789202" cy="225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</a:lstStyle>
          <a:p>
            <a:pPr>
              <a:defRPr/>
            </a:pPr>
            <a:fld id="{920384AA-0A71-E644-AEED-65CD2253F2C8}" type="slidenum">
              <a:rPr lang="en-US" smtClean="0">
                <a:solidFill>
                  <a:srgbClr val="006AD2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6AD2"/>
              </a:solidFill>
            </a:endParaRP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 bwMode="gray">
          <a:xfrm>
            <a:off x="4107945" y="4794515"/>
            <a:ext cx="789202" cy="22595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675" dirty="0">
                <a:solidFill>
                  <a:srgbClr val="006AD2"/>
                </a:solidFill>
              </a:rPr>
              <a:t>AXP Internal </a:t>
            </a:r>
          </a:p>
        </p:txBody>
      </p:sp>
    </p:spTree>
    <p:extLst>
      <p:ext uri="{BB962C8B-B14F-4D97-AF65-F5344CB8AC3E}">
        <p14:creationId xmlns:p14="http://schemas.microsoft.com/office/powerpoint/2010/main" val="233739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transition spd="slow"/>
  <p:hf hdr="0"/>
  <p:txStyles>
    <p:titleStyle>
      <a:lvl1pPr algn="l" defTabSz="457189" rtl="0" eaLnBrk="1" fontAlgn="base" hangingPunct="1">
        <a:lnSpc>
          <a:spcPct val="82000"/>
        </a:lnSpc>
        <a:spcBef>
          <a:spcPct val="0"/>
        </a:spcBef>
        <a:spcAft>
          <a:spcPct val="0"/>
        </a:spcAft>
        <a:defRPr sz="2900" b="0" i="0" kern="1200" cap="none" baseline="0">
          <a:solidFill>
            <a:schemeClr val="tx1"/>
          </a:solidFill>
          <a:latin typeface="Guardian Egyp Regular" panose="02060503050503060803" pitchFamily="18" charset="77"/>
          <a:ea typeface="Guardian Egyp Regular" panose="02060503050503060803" pitchFamily="18" charset="77"/>
          <a:cs typeface="Guardian Egyp Regular" panose="02060503050503060803" pitchFamily="18" charset="77"/>
        </a:defRPr>
      </a:lvl1pPr>
      <a:lvl2pPr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457189"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6pPr>
      <a:lvl7pPr marL="914377"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7pPr>
      <a:lvl8pPr marL="1371566"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8pPr>
      <a:lvl9pPr marL="1828754" algn="l" defTabSz="457189" rtl="0" eaLnBrk="1" fontAlgn="base" hangingPunct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Arial" charset="0"/>
          <a:cs typeface="Arial" charset="0"/>
        </a:defRPr>
      </a:lvl9pPr>
    </p:titleStyle>
    <p:bodyStyle>
      <a:lvl1pPr marL="342891" indent="-342891" algn="l" defTabSz="457189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None/>
        <a:defRPr b="0" i="0" kern="1200">
          <a:solidFill>
            <a:schemeClr val="bg2"/>
          </a:solidFill>
          <a:latin typeface="BentonSans Light" charset="0"/>
          <a:ea typeface="BentonSans Light" charset="0"/>
          <a:cs typeface="BentonSans Light" charset="0"/>
        </a:defRPr>
      </a:lvl1pPr>
      <a:lvl2pPr marL="227008" indent="-227008" algn="l" defTabSz="457189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•"/>
        <a:defRPr sz="1800" b="0" i="0" kern="1200">
          <a:solidFill>
            <a:schemeClr val="bg2"/>
          </a:solidFill>
          <a:latin typeface="BentonSans Light" charset="0"/>
          <a:ea typeface="BentonSans Light" charset="0"/>
          <a:cs typeface="BentonSans Light" charset="0"/>
        </a:defRPr>
      </a:lvl2pPr>
      <a:lvl3pPr marL="744520" indent="-288918" algn="l" defTabSz="457189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Char char="–"/>
        <a:defRPr b="0" i="0" kern="1200">
          <a:solidFill>
            <a:schemeClr val="bg2"/>
          </a:solidFill>
          <a:latin typeface="BentonSans Light" charset="0"/>
          <a:ea typeface="BentonSans Light" charset="0"/>
          <a:cs typeface="BentonSans Light" charset="0"/>
        </a:defRPr>
      </a:lvl3pPr>
      <a:lvl4pPr marL="1149322" indent="-228594" algn="l" defTabSz="457189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sz="1600" b="0" i="0" kern="1200">
          <a:solidFill>
            <a:schemeClr val="bg2"/>
          </a:solidFill>
          <a:latin typeface="BentonSans Light" charset="0"/>
          <a:ea typeface="BentonSans Light" charset="0"/>
          <a:cs typeface="BentonSans Light" charset="0"/>
        </a:defRPr>
      </a:lvl4pPr>
      <a:lvl5pPr marL="1596985" indent="-225420" algn="l" defTabSz="457189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/>
        <a:buChar char="−"/>
        <a:defRPr sz="1600" b="0" i="0" kern="1200">
          <a:solidFill>
            <a:schemeClr val="bg2"/>
          </a:solidFill>
          <a:latin typeface="BentonSans Light" charset="0"/>
          <a:ea typeface="BentonSans Light" charset="0"/>
          <a:cs typeface="BentonSans Light" charset="0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20384AA-0A71-E644-AEED-65CD2253F2C8}" type="slidenum">
              <a:rPr lang="en-US" smtClean="0">
                <a:solidFill>
                  <a:srgbClr val="006AD2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6A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56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650" r:id="rId18"/>
    <p:sldLayoutId id="2147483664" r:id="rId19"/>
    <p:sldLayoutId id="2147483666" r:id="rId20"/>
    <p:sldLayoutId id="2147483662" r:id="rId21"/>
    <p:sldLayoutId id="2147483667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5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5472" userDrawn="1">
          <p15:clr>
            <a:srgbClr val="F26B43"/>
          </p15:clr>
        </p15:guide>
        <p15:guide id="4" orient="horz" pos="776" userDrawn="1">
          <p15:clr>
            <a:srgbClr val="F26B43"/>
          </p15:clr>
        </p15:guide>
        <p15:guide id="5" pos="2880" userDrawn="1">
          <p15:clr>
            <a:srgbClr val="F26B43"/>
          </p15:clr>
        </p15:guide>
        <p15:guide id="6" pos="1901" userDrawn="1">
          <p15:clr>
            <a:srgbClr val="F26B43"/>
          </p15:clr>
        </p15:guide>
        <p15:guide id="7" pos="2074" userDrawn="1">
          <p15:clr>
            <a:srgbClr val="F26B43"/>
          </p15:clr>
        </p15:guide>
        <p15:guide id="8" pos="3859" userDrawn="1">
          <p15:clr>
            <a:srgbClr val="F26B43"/>
          </p15:clr>
        </p15:guide>
        <p15:guide id="9" pos="3686" userDrawn="1">
          <p15:clr>
            <a:srgbClr val="F26B43"/>
          </p15:clr>
        </p15:guide>
        <p15:guide id="10" pos="4666" userDrawn="1">
          <p15:clr>
            <a:srgbClr val="F26B43"/>
          </p15:clr>
        </p15:guide>
        <p15:guide id="11" orient="horz" pos="2794" userDrawn="1">
          <p15:clr>
            <a:srgbClr val="F26B43"/>
          </p15:clr>
        </p15:guide>
        <p15:guide id="12" pos="2794" userDrawn="1">
          <p15:clr>
            <a:srgbClr val="F26B43"/>
          </p15:clr>
        </p15:guide>
        <p15:guide id="13" pos="29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9FFC-8350-1D46-9631-40E09A17E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15212"/>
            <a:ext cx="7525910" cy="1459308"/>
          </a:xfrm>
        </p:spPr>
        <p:txBody>
          <a:bodyPr/>
          <a:lstStyle/>
          <a:p>
            <a:r>
              <a:rPr lang="en-US" dirty="0"/>
              <a:t>DECLARATIVE VERT.X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75074-8BB1-ED46-B656-AB4D940A0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2011680"/>
            <a:ext cx="6865951" cy="4572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800" dirty="0"/>
              <a:t>Presenter: Sudiptasish Chanda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5FF5E-AA85-4926-AEDC-5F08FE361078}"/>
              </a:ext>
            </a:extLst>
          </p:cNvPr>
          <p:cNvSpPr txBox="1"/>
          <p:nvPr/>
        </p:nvSpPr>
        <p:spPr>
          <a:xfrm>
            <a:off x="4842344" y="298969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F51B4-6D9E-2C4E-A64E-87275AE6763A}"/>
              </a:ext>
            </a:extLst>
          </p:cNvPr>
          <p:cNvSpPr txBox="1"/>
          <p:nvPr/>
        </p:nvSpPr>
        <p:spPr>
          <a:xfrm>
            <a:off x="6965343" y="36496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A0B78-8A8E-A5CF-D7DF-16DCA6E9D8E8}"/>
              </a:ext>
            </a:extLst>
          </p:cNvPr>
          <p:cNvSpPr txBox="1"/>
          <p:nvPr/>
        </p:nvSpPr>
        <p:spPr>
          <a:xfrm>
            <a:off x="6782463" y="415853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0FD37E-B420-2B47-6F3B-9026380783E8}"/>
              </a:ext>
            </a:extLst>
          </p:cNvPr>
          <p:cNvSpPr txBox="1"/>
          <p:nvPr/>
        </p:nvSpPr>
        <p:spPr>
          <a:xfrm>
            <a:off x="4842344" y="29260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C769D-E97C-8734-6633-D510EE3DD0C3}"/>
              </a:ext>
            </a:extLst>
          </p:cNvPr>
          <p:cNvSpPr txBox="1"/>
          <p:nvPr/>
        </p:nvSpPr>
        <p:spPr>
          <a:xfrm>
            <a:off x="5088835" y="300559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36D68E4-29CD-74AB-9454-BBE04CD710E8}"/>
              </a:ext>
            </a:extLst>
          </p:cNvPr>
          <p:cNvSpPr txBox="1">
            <a:spLocks/>
          </p:cNvSpPr>
          <p:nvPr/>
        </p:nvSpPr>
        <p:spPr>
          <a:xfrm>
            <a:off x="457199" y="2811781"/>
            <a:ext cx="6865951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3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Powered by </a:t>
            </a:r>
            <a:r>
              <a:rPr lang="en-US" dirty="0" err="1"/>
              <a:t>JavaLabs.org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0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4A787635-1358-42DC-BB76-59C10F34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684212"/>
          </a:xfrm>
        </p:spPr>
        <p:txBody>
          <a:bodyPr/>
          <a:lstStyle/>
          <a:p>
            <a:r>
              <a:rPr lang="en-US" dirty="0"/>
              <a:t>What Is Declarative Configuration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586FD-EA61-50F5-D105-4F2AFC041AFC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ECB9CE-AF3C-6CCD-C557-098EEBAC3C39}"/>
              </a:ext>
            </a:extLst>
          </p:cNvPr>
          <p:cNvSpPr txBox="1">
            <a:spLocks/>
          </p:cNvSpPr>
          <p:nvPr/>
        </p:nvSpPr>
        <p:spPr>
          <a:xfrm>
            <a:off x="507208" y="965379"/>
            <a:ext cx="8229600" cy="3614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Declarative approach uses configuration file.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Uses xml configuration files to define various aspects of the server's behaviour, such as security, caching, or session management, instead of relying solely on code.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Web server uses separate config file to define how the server should be configured and operate.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Legacy J2EE frameworks use configuration file to define the routing.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Most of these configuration files are in </a:t>
            </a:r>
            <a:r>
              <a:rPr lang="en-IN" sz="1800" b="1" dirty="0">
                <a:solidFill>
                  <a:schemeClr val="tx1"/>
                </a:solidFill>
              </a:rPr>
              <a:t>xml</a:t>
            </a:r>
            <a:r>
              <a:rPr lang="en-IN" sz="1800" dirty="0">
                <a:solidFill>
                  <a:schemeClr val="tx1"/>
                </a:solidFill>
              </a:rPr>
              <a:t> format.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12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F168-6FC6-8E5F-F477-70101A82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F0C2731B-38CD-E005-42FB-929F5972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Approach to Define Server Behavior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94C73-41C0-5E0A-268C-92CB3AF2EA91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CB4AA1-26D6-3438-AB7B-988508AC4D42}"/>
              </a:ext>
            </a:extLst>
          </p:cNvPr>
          <p:cNvSpPr txBox="1">
            <a:spLocks/>
          </p:cNvSpPr>
          <p:nvPr/>
        </p:nvSpPr>
        <p:spPr>
          <a:xfrm>
            <a:off x="407192" y="850789"/>
            <a:ext cx="8229600" cy="40313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Most J2EE frameworks uses </a:t>
            </a:r>
            <a:r>
              <a:rPr lang="en-IN" sz="1800" b="1" dirty="0" err="1">
                <a:solidFill>
                  <a:schemeClr val="tx1"/>
                </a:solidFill>
              </a:rPr>
              <a:t>web.xml</a:t>
            </a:r>
            <a:r>
              <a:rPr lang="en-IN" sz="1800" dirty="0">
                <a:solidFill>
                  <a:schemeClr val="tx1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The </a:t>
            </a:r>
            <a:r>
              <a:rPr lang="en-IN" sz="1800" dirty="0" err="1">
                <a:solidFill>
                  <a:schemeClr val="tx1"/>
                </a:solidFill>
              </a:rPr>
              <a:t>web.xml</a:t>
            </a:r>
            <a:r>
              <a:rPr lang="en-IN" sz="1800" dirty="0">
                <a:solidFill>
                  <a:schemeClr val="tx1"/>
                </a:solidFill>
              </a:rPr>
              <a:t> file is the deployment descriptor for a Java web application.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Provides configuration and deployment information for the web components within a web application.</a:t>
            </a:r>
          </a:p>
          <a:p>
            <a:pPr algn="l"/>
            <a:endParaRPr lang="en-IN" sz="1800" dirty="0"/>
          </a:p>
          <a:p>
            <a:pPr algn="l"/>
            <a:r>
              <a:rPr lang="en-IN" sz="1400" b="1" dirty="0">
                <a:solidFill>
                  <a:srgbClr val="0032C3"/>
                </a:solidFill>
                <a:effectLst/>
              </a:rPr>
              <a:t> 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&lt;web-app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version="4.0"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&lt;servlet&gt;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&lt;servlet-name&gt;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WebServlet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&lt;/servlet-name&gt;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&lt;servlet-class&gt;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com.test.app.servlet.WebServlet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&lt;/servlet-class&gt;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&lt;load-on-startup&gt;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&lt;/load-on-startup&gt;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&lt;/servlet&gt;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&lt;servlet-mapping&gt;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&lt;servlet-name&gt;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WebServlet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&lt;/servlet-name&gt;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-pattern&gt;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/ap/v1/*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-pattern&gt;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&lt;/servlet-mapping&gt;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&lt;security-constraint&gt;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&lt;/web-app&gt;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N" sz="1400" dirty="0">
              <a:solidFill>
                <a:schemeClr val="accent2">
                  <a:lumMod val="90000"/>
                  <a:lumOff val="10000"/>
                </a:schemeClr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89DB6-78A8-A5C0-BB31-9B9658EBFF8E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465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4A787635-1358-42DC-BB76-59C10F34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Approach for Routing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586FD-EA61-50F5-D105-4F2AFC041AFC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ECB9CE-AF3C-6CCD-C557-098EEBAC3C39}"/>
              </a:ext>
            </a:extLst>
          </p:cNvPr>
          <p:cNvSpPr txBox="1">
            <a:spLocks/>
          </p:cNvSpPr>
          <p:nvPr/>
        </p:nvSpPr>
        <p:spPr>
          <a:xfrm>
            <a:off x="407192" y="629291"/>
            <a:ext cx="7074985" cy="44284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Legacy J2EE frameworks like </a:t>
            </a:r>
            <a:r>
              <a:rPr lang="en-IN" sz="1800" b="1" dirty="0">
                <a:solidFill>
                  <a:schemeClr val="tx1"/>
                </a:solidFill>
              </a:rPr>
              <a:t>struts</a:t>
            </a:r>
            <a:r>
              <a:rPr lang="en-IN" sz="1800" dirty="0">
                <a:solidFill>
                  <a:schemeClr val="tx1"/>
                </a:solidFill>
              </a:rPr>
              <a:t>, </a:t>
            </a:r>
            <a:r>
              <a:rPr lang="en-IN" sz="1800" b="1" dirty="0" err="1">
                <a:solidFill>
                  <a:schemeClr val="tx1"/>
                </a:solidFill>
              </a:rPr>
              <a:t>jsf</a:t>
            </a:r>
            <a:r>
              <a:rPr lang="en-IN" sz="1800" b="1" dirty="0">
                <a:solidFill>
                  <a:schemeClr val="tx1"/>
                </a:solidFill>
              </a:rPr>
              <a:t> </a:t>
            </a:r>
            <a:r>
              <a:rPr lang="en-IN" sz="1800" dirty="0">
                <a:solidFill>
                  <a:schemeClr val="tx1"/>
                </a:solidFill>
              </a:rPr>
              <a:t>use there own config file to define the routing.</a:t>
            </a:r>
          </a:p>
          <a:p>
            <a:pPr algn="l"/>
            <a:endParaRPr lang="en-IN" sz="1000" dirty="0">
              <a:solidFill>
                <a:srgbClr val="B7530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dirty="0">
                <a:solidFill>
                  <a:srgbClr val="B7530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0154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</a:t>
            </a:r>
            <a:r>
              <a:rPr lang="en-IN" sz="1000" dirty="0" err="1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/v1/employees”</a:t>
            </a:r>
          </a:p>
          <a:p>
            <a:pPr algn="l"/>
            <a:r>
              <a:rPr lang="en-IN" sz="1000" dirty="0">
                <a:solidFill>
                  <a:srgbClr val="0154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type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IN" sz="1000" dirty="0" err="1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com.test.app.model.Employee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IN" sz="1000" dirty="0">
                <a:solidFill>
                  <a:srgbClr val="0154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name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IN" sz="1000" dirty="0" err="1">
                <a:solidFill>
                  <a:srgbClr val="567A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</a:t>
            </a:r>
            <a:r>
              <a:rPr lang="en-IN" sz="1000" dirty="0" err="1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IN" sz="1000" dirty="0">
                <a:solidFill>
                  <a:srgbClr val="01549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scope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1000" dirty="0">
                <a:solidFill>
                  <a:srgbClr val="567A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"request"</a:t>
            </a:r>
            <a:r>
              <a:rPr lang="en-IN" sz="1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bg2"/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JAX-RS follows annotation based approach to define routing.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dirty="0">
                <a:solidFill>
                  <a:srgbClr val="63B1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@Path("/</a:t>
            </a:r>
            <a:r>
              <a:rPr lang="en-IN" sz="1000" b="0" i="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/v1/employees") </a:t>
            </a:r>
          </a:p>
          <a:p>
            <a:pPr algn="l"/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1" i="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EmployeeREST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@POST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@Path("")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Response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0" i="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Response.created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().entity(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{Employee}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).build();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algn="l"/>
            <a:endParaRPr lang="en-IN" sz="1000" dirty="0">
              <a:solidFill>
                <a:schemeClr val="accent2">
                  <a:lumMod val="90000"/>
                  <a:lumOff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/>
                </a:solidFill>
              </a:rPr>
              <a:t>SpringBoot</a:t>
            </a:r>
            <a:r>
              <a:rPr lang="en-IN" sz="1800" dirty="0">
                <a:solidFill>
                  <a:schemeClr val="tx1"/>
                </a:solidFill>
              </a:rPr>
              <a:t> too, follows annotation based approach to define routing.</a:t>
            </a:r>
            <a:endParaRPr lang="en-IN" sz="1800" dirty="0">
              <a:solidFill>
                <a:schemeClr val="tx1"/>
              </a:solidFill>
              <a:latin typeface="+mn-lt"/>
            </a:endParaRPr>
          </a:p>
          <a:p>
            <a:pPr algn="l"/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0" i="0" dirty="0">
                <a:solidFill>
                  <a:srgbClr val="63B17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RestController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1" i="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EmployeeController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IN" sz="1000" b="0" i="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PostMapping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/v1/employees") 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N" sz="1000" b="1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0" i="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IN" sz="1000" b="0" i="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algn="l"/>
            <a:endParaRPr lang="en-IN" sz="1400" dirty="0">
              <a:solidFill>
                <a:schemeClr val="accent2">
                  <a:lumMod val="90000"/>
                  <a:lumOff val="10000"/>
                </a:schemeClr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0F3FF-BE80-B7D2-A6CF-4849054363B8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218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4A787635-1358-42DC-BB76-59C10F34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684212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Vert.x</a:t>
            </a:r>
            <a:r>
              <a:rPr lang="en-US" dirty="0"/>
              <a:t> is Configured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586FD-EA61-50F5-D105-4F2AFC041AFC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ECB9CE-AF3C-6CCD-C557-098EEBAC3C39}"/>
              </a:ext>
            </a:extLst>
          </p:cNvPr>
          <p:cNvSpPr txBox="1">
            <a:spLocks/>
          </p:cNvSpPr>
          <p:nvPr/>
        </p:nvSpPr>
        <p:spPr>
          <a:xfrm>
            <a:off x="507208" y="769937"/>
            <a:ext cx="7269168" cy="42878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/>
                </a:solidFill>
              </a:rPr>
              <a:t>Vert.x</a:t>
            </a:r>
            <a:r>
              <a:rPr lang="en-IN" sz="1800" dirty="0">
                <a:solidFill>
                  <a:schemeClr val="tx1"/>
                </a:solidFill>
              </a:rPr>
              <a:t> does not primarily rely on declarative configuration.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It prioritizes a programmatic and reactive approach to configure web server and routing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Initialize </a:t>
            </a:r>
            <a:r>
              <a:rPr lang="en-IN" sz="1800" dirty="0" err="1">
                <a:solidFill>
                  <a:schemeClr val="tx1"/>
                </a:solidFill>
              </a:rPr>
              <a:t>Vert.x</a:t>
            </a: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VertxOptions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options = new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VertxOptions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();    	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Set configuration parameter</a:t>
            </a:r>
            <a:b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.vertx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(options);</a:t>
            </a:r>
          </a:p>
          <a:p>
            <a:pPr lvl="1"/>
            <a:endParaRPr lang="en-IN" sz="1800" spc="-4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Deploying </a:t>
            </a:r>
            <a:r>
              <a:rPr lang="en-IN" sz="1800" dirty="0" err="1">
                <a:solidFill>
                  <a:schemeClr val="tx1"/>
                </a:solidFill>
              </a:rPr>
              <a:t>Verticle</a:t>
            </a:r>
            <a:endParaRPr lang="en-IN" sz="1800" dirty="0">
              <a:solidFill>
                <a:schemeClr val="tx1"/>
              </a:solidFill>
            </a:endParaRPr>
          </a:p>
          <a:p>
            <a:pPr lvl="1"/>
            <a:endParaRPr lang="en-IN" sz="1000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DeploymentOptions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config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=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new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DeploymentOptions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(); 	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worker | HA | instance, etc</a:t>
            </a:r>
          </a:p>
          <a:p>
            <a:pPr lvl="1"/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vertx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.deployVerticle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({</a:t>
            </a:r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verticle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},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config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Create Web Server</a:t>
            </a:r>
          </a:p>
          <a:p>
            <a:pPr lvl="1"/>
            <a:endParaRPr lang="en-IN" sz="1000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HttpServerOptions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opt = new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HttpServerOptions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	// Set options for http server</a:t>
            </a:r>
          </a:p>
          <a:p>
            <a:pPr lvl="1"/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opt.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setPort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(8080);</a:t>
            </a:r>
            <a:b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 = 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vertx.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createHttpServer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(opt);</a:t>
            </a:r>
          </a:p>
          <a:p>
            <a:pPr lvl="1"/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server.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listen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IN" sz="1000" b="1" spc="-40" dirty="0">
              <a:solidFill>
                <a:srgbClr val="63B175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accent2">
                  <a:lumMod val="90000"/>
                  <a:lumOff val="10000"/>
                </a:schemeClr>
              </a:solidFill>
              <a:latin typeface="+mj-lt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accent2">
                  <a:lumMod val="90000"/>
                  <a:lumOff val="10000"/>
                </a:schemeClr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0F3FF-BE80-B7D2-A6CF-4849054363B8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298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CBB9-43E9-D80A-FD86-BABB32C6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ED550932-60AA-CF4A-D68C-018C9814A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684212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Vert.x</a:t>
            </a:r>
            <a:r>
              <a:rPr lang="en-US" dirty="0"/>
              <a:t> Handles Routing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F68FA-E344-252F-7AF5-671DD74A05B6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236330-AC6C-F05A-197D-DA1D63C09012}"/>
              </a:ext>
            </a:extLst>
          </p:cNvPr>
          <p:cNvSpPr txBox="1">
            <a:spLocks/>
          </p:cNvSpPr>
          <p:nvPr/>
        </p:nvSpPr>
        <p:spPr>
          <a:xfrm>
            <a:off x="507208" y="769937"/>
            <a:ext cx="8229600" cy="40644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Programmatic approach for configuring REST interfaces.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With Router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000" b="1" dirty="0">
              <a:solidFill>
                <a:srgbClr val="63B17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 route =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router.route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("/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api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/v1/employees");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route.post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("")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.respond(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ctx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-&gt; 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Logic for validating and storing the employee object</a:t>
            </a: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// ...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ctx.response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   .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setChunked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(true)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   .write("success"));</a:t>
            </a:r>
          </a:p>
          <a:p>
            <a:pPr lvl="1"/>
            <a:endParaRPr lang="en-IN" sz="1800" spc="-40" dirty="0">
              <a:solidFill>
                <a:srgbClr val="0032C3"/>
              </a:solidFill>
              <a:latin typeface="+mj-lt"/>
              <a:ea typeface="+mj-ea"/>
              <a:cs typeface="+mj-cs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route.get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(”:id")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.respond(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ctx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-&gt; 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Logic for fetching the specific employee</a:t>
            </a: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// ...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ctx.response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   .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setChunked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(true)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   .write(”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{employee}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"));</a:t>
            </a:r>
          </a:p>
          <a:p>
            <a:pPr lvl="1"/>
            <a:endParaRPr lang="en-IN" sz="1000" b="1" spc="-40" dirty="0">
              <a:solidFill>
                <a:srgbClr val="63B175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endParaRPr lang="en-IN" sz="1400" dirty="0">
              <a:solidFill>
                <a:schemeClr val="accent2">
                  <a:lumMod val="90000"/>
                  <a:lumOff val="10000"/>
                </a:schemeClr>
              </a:solidFill>
              <a:latin typeface="+mj-lt"/>
            </a:endParaRPr>
          </a:p>
          <a:p>
            <a:pPr lvl="1"/>
            <a:endParaRPr lang="en-IN" sz="1400" dirty="0">
              <a:solidFill>
                <a:schemeClr val="accent2">
                  <a:lumMod val="90000"/>
                  <a:lumOff val="10000"/>
                </a:schemeClr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55B4E-E0B1-3CB5-2398-2073DEB5C28A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3957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5E57A-B8E2-FC7D-C8FD-44829662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7B3FD50C-9776-2D8B-B7E8-7AA4B27A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684212"/>
          </a:xfrm>
        </p:spPr>
        <p:txBody>
          <a:bodyPr/>
          <a:lstStyle/>
          <a:p>
            <a:r>
              <a:rPr lang="en-US" dirty="0"/>
              <a:t>Drawbacks of Async Programming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FEDE5-5A48-E08D-B831-8FCE48B54295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6C8EB1-FA4A-96E5-F2E4-C9AD0E0D680A}"/>
              </a:ext>
            </a:extLst>
          </p:cNvPr>
          <p:cNvSpPr txBox="1">
            <a:spLocks/>
          </p:cNvSpPr>
          <p:nvPr/>
        </p:nvSpPr>
        <p:spPr>
          <a:xfrm>
            <a:off x="507208" y="965379"/>
            <a:ext cx="8229600" cy="3614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400" b="0" i="0" dirty="0">
                <a:solidFill>
                  <a:schemeClr val="tx1"/>
                </a:solidFill>
                <a:effectLst/>
              </a:rPr>
              <a:t>While asynchronous programming in </a:t>
            </a:r>
            <a:r>
              <a:rPr lang="en-IN" sz="1400" b="0" i="0" dirty="0" err="1">
                <a:solidFill>
                  <a:schemeClr val="tx1"/>
                </a:solidFill>
                <a:effectLst/>
              </a:rPr>
              <a:t>Vert.x</a:t>
            </a:r>
            <a:r>
              <a:rPr lang="en-IN" sz="1400" b="0" i="0" dirty="0">
                <a:solidFill>
                  <a:schemeClr val="tx1"/>
                </a:solidFill>
                <a:effectLst/>
              </a:rPr>
              <a:t> offers benefits like 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 - </a:t>
            </a:r>
            <a:r>
              <a:rPr lang="en-IN" sz="1400" b="0" i="0" dirty="0">
                <a:solidFill>
                  <a:schemeClr val="tx1"/>
                </a:solidFill>
                <a:effectLst/>
              </a:rPr>
              <a:t>improved scalability and 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 - </a:t>
            </a:r>
            <a:r>
              <a:rPr lang="en-IN" sz="1400" b="0" i="0" dirty="0">
                <a:solidFill>
                  <a:schemeClr val="tx1"/>
                </a:solidFill>
                <a:effectLst/>
              </a:rPr>
              <a:t>resource utilization, </a:t>
            </a:r>
          </a:p>
          <a:p>
            <a:pPr algn="l"/>
            <a:endParaRPr lang="en-IN" sz="1400" dirty="0">
              <a:solidFill>
                <a:schemeClr val="tx1"/>
              </a:solidFill>
            </a:endParaRPr>
          </a:p>
          <a:p>
            <a:pPr algn="l"/>
            <a:r>
              <a:rPr lang="en-IN" sz="1400" b="0" i="0" dirty="0">
                <a:solidFill>
                  <a:schemeClr val="tx1"/>
                </a:solidFill>
                <a:effectLst/>
              </a:rPr>
              <a:t>It also presents some challenges.</a:t>
            </a: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Significant amount of “Plumbing Code”.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Increased complexity of code.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Debugging challenges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Unorganized callbacks can lead to “Callback Hell”.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2644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8E51-B996-11F1-FDD1-F20B8A8A3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743FAE5E-524A-DEAB-96AB-DCE482FC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684212"/>
          </a:xfrm>
        </p:spPr>
        <p:txBody>
          <a:bodyPr>
            <a:normAutofit fontScale="90000"/>
          </a:bodyPr>
          <a:lstStyle/>
          <a:p>
            <a:r>
              <a:rPr lang="en-US" dirty="0"/>
              <a:t>How </a:t>
            </a:r>
            <a:r>
              <a:rPr lang="en-US" dirty="0" err="1"/>
              <a:t>Vert.x</a:t>
            </a:r>
            <a:r>
              <a:rPr lang="en-US" dirty="0"/>
              <a:t> Handles Routing – Slightly Different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DA9A9-876E-BA48-297A-F1D0AD029AB1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815E8B-03C7-B3D4-6EB7-711CB4BC7EA9}"/>
              </a:ext>
            </a:extLst>
          </p:cNvPr>
          <p:cNvSpPr txBox="1">
            <a:spLocks/>
          </p:cNvSpPr>
          <p:nvPr/>
        </p:nvSpPr>
        <p:spPr>
          <a:xfrm>
            <a:off x="507208" y="769937"/>
            <a:ext cx="8229600" cy="3983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Having concrete class with well defined methods.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000" b="1" dirty="0">
              <a:solidFill>
                <a:srgbClr val="63B17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IN" sz="1000" b="1" spc="-40" dirty="0">
              <a:solidFill>
                <a:srgbClr val="63B175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endParaRPr lang="en-IN" sz="1800" spc="-4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566D42-E57F-563C-42E2-6CD75A375BEC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652F3-6B98-ED4A-96BD-E45F31B8E8A8}"/>
              </a:ext>
            </a:extLst>
          </p:cNvPr>
          <p:cNvSpPr txBox="1"/>
          <p:nvPr/>
        </p:nvSpPr>
        <p:spPr>
          <a:xfrm>
            <a:off x="7354956" y="484089"/>
            <a:ext cx="2243943" cy="194011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3E9A9-3F6E-762E-419B-9C52E2D18799}"/>
              </a:ext>
            </a:extLst>
          </p:cNvPr>
          <p:cNvSpPr txBox="1"/>
          <p:nvPr/>
        </p:nvSpPr>
        <p:spPr>
          <a:xfrm>
            <a:off x="507206" y="1342532"/>
            <a:ext cx="3794450" cy="18697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 route =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router.route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("/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api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/v1/employees");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route.post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("")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.respond(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ctx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-&gt; 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Logic for validating and storing</a:t>
            </a: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// the employee object</a:t>
            </a: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// ...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ctx.response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   .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setChunked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(true)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         .write("success"));</a:t>
            </a:r>
          </a:p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0D85D-C4DB-9B5D-2A02-3631B6CD8197}"/>
              </a:ext>
            </a:extLst>
          </p:cNvPr>
          <p:cNvSpPr txBox="1"/>
          <p:nvPr/>
        </p:nvSpPr>
        <p:spPr>
          <a:xfrm>
            <a:off x="4301656" y="1349244"/>
            <a:ext cx="3794450" cy="186979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public class </a:t>
            </a:r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EmployeeHandler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{</a:t>
            </a:r>
          </a:p>
          <a:p>
            <a:pPr lvl="1"/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   //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Methods to create/view/delete employee</a:t>
            </a: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}</a:t>
            </a:r>
          </a:p>
          <a:p>
            <a:pPr lvl="1"/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EmployeeHandler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= new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EmployeeHandler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</a:t>
            </a:r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 route =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router.route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("/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api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/v1/employees");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route.post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("").handler(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::create);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route.get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(”/:id").handler(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::fetch)</a:t>
            </a:r>
          </a:p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000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47BE492-CE8B-8279-076F-D61D94AB74FF}"/>
              </a:ext>
            </a:extLst>
          </p:cNvPr>
          <p:cNvSpPr txBox="1">
            <a:spLocks/>
          </p:cNvSpPr>
          <p:nvPr/>
        </p:nvSpPr>
        <p:spPr>
          <a:xfrm>
            <a:off x="507208" y="3386557"/>
            <a:ext cx="6744382" cy="15591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</a:rPr>
              <a:t>Logic is now shifted to individual method (a more cleaner approach)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</a:rPr>
              <a:t>A project with hundreds of APIs still need to write the “Boilerplate Code”.  E.g., </a:t>
            </a:r>
            <a:r>
              <a:rPr lang="en-IN" sz="1500" dirty="0" err="1">
                <a:solidFill>
                  <a:schemeClr val="tx1"/>
                </a:solidFill>
              </a:rPr>
              <a:t>AppHttpServer.java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</a:rPr>
              <a:t>But the final challenge – (Auto) Generate Swagger Doc and more importantly keeping it up-to-date?</a:t>
            </a:r>
          </a:p>
          <a:p>
            <a:pPr algn="l"/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000" b="1" dirty="0">
              <a:solidFill>
                <a:srgbClr val="63B17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IN" sz="1000" b="1" spc="-40" dirty="0">
              <a:solidFill>
                <a:srgbClr val="63B175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endParaRPr lang="en-IN" sz="1800" spc="-4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3796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D259-5F0D-78D7-2F79-205EC568D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3CD5AC6C-131F-5BC5-678F-8B3C40F5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</a:t>
            </a:r>
            <a:r>
              <a:rPr lang="en-US" dirty="0" err="1"/>
              <a:t>Vert.x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6BB49-F544-2A82-2370-240D9C3E54C4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223D45-06EF-F2AA-1459-B89DC06B3EC3}"/>
              </a:ext>
            </a:extLst>
          </p:cNvPr>
          <p:cNvSpPr txBox="1">
            <a:spLocks/>
          </p:cNvSpPr>
          <p:nvPr/>
        </p:nvSpPr>
        <p:spPr>
          <a:xfrm>
            <a:off x="407192" y="629291"/>
            <a:ext cx="6717177" cy="44284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chemeClr val="tx1"/>
                </a:solidFill>
              </a:rPr>
              <a:t>Introducing </a:t>
            </a:r>
            <a:r>
              <a:rPr lang="en-IN" sz="1800" b="1" dirty="0" err="1">
                <a:solidFill>
                  <a:schemeClr val="tx1"/>
                </a:solidFill>
              </a:rPr>
              <a:t>vertx-web.xml</a:t>
            </a:r>
            <a:r>
              <a:rPr lang="en-IN" sz="1800" dirty="0">
                <a:solidFill>
                  <a:schemeClr val="tx1"/>
                </a:solidFill>
              </a:rPr>
              <a:t>. </a:t>
            </a:r>
          </a:p>
          <a:p>
            <a:pPr algn="l"/>
            <a:endParaRPr lang="en-IN" sz="15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</a:rPr>
              <a:t>It provides configuration and deployment information for </a:t>
            </a:r>
            <a:r>
              <a:rPr lang="en-IN" sz="1500" dirty="0" err="1">
                <a:solidFill>
                  <a:schemeClr val="tx1"/>
                </a:solidFill>
              </a:rPr>
              <a:t>Vert.x</a:t>
            </a:r>
            <a:endParaRPr lang="en-IN" sz="1500" dirty="0">
              <a:solidFill>
                <a:schemeClr val="tx1"/>
              </a:solidFill>
            </a:endParaRPr>
          </a:p>
          <a:p>
            <a:pPr algn="l"/>
            <a:endParaRPr lang="en-IN" sz="1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400" b="1" dirty="0">
                <a:solidFill>
                  <a:srgbClr val="008000"/>
                </a:solidFill>
                <a:effectLst/>
              </a:rPr>
              <a:t> 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-web&gt;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&lt;context-params&gt;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&lt;!-- The default event loop pool size is twice the number of cores on the machine.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You can override the value by specifying a number here. E.g., 2, 4, etc. --&gt;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eventloop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-pool-size&gt;&lt;/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eventloop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-pool-size&gt;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&lt;worker-pool-size&gt;&lt;/worker-pool-size&gt;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&lt;quorum-size&gt;&lt;/quorum-size&gt;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.......</a:t>
            </a:r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&lt;/context-params&gt;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verticles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verticle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&lt;name&gt;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ecm.http.server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&lt;/name&gt;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&lt;class&gt;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com.test.app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.core.AppHttpServer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&lt;/class&gt;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&lt;worker&gt;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&lt;/worker&gt;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&lt;ha&gt;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&lt;/ha&gt;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&lt;instance&gt;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&lt;/instance&gt;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&lt;config&gt;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conf/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server.xml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&lt;/config&gt;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verticle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verticle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........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verticle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verticles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-web&gt;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47D71-283E-EC26-1022-39229941E04F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4470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2C94-08D0-C4AC-F259-C9D2C3D8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643825BD-4F9D-3309-F3A5-25DD09F9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</a:t>
            </a:r>
            <a:r>
              <a:rPr lang="en-US" dirty="0" err="1"/>
              <a:t>Vert.x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14224-34F3-1DBF-6E17-4468F5AA01D0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CE4454-20E1-C775-8D04-110DC4CC4B61}"/>
              </a:ext>
            </a:extLst>
          </p:cNvPr>
          <p:cNvSpPr txBox="1">
            <a:spLocks/>
          </p:cNvSpPr>
          <p:nvPr/>
        </p:nvSpPr>
        <p:spPr>
          <a:xfrm>
            <a:off x="407192" y="629291"/>
            <a:ext cx="8229600" cy="7542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chemeClr val="tx1"/>
                </a:solidFill>
              </a:rPr>
              <a:t>Introducing </a:t>
            </a:r>
            <a:r>
              <a:rPr lang="en-IN" sz="1800" b="1" dirty="0" err="1">
                <a:solidFill>
                  <a:schemeClr val="tx1"/>
                </a:solidFill>
              </a:rPr>
              <a:t>server.xml</a:t>
            </a:r>
            <a:r>
              <a:rPr lang="en-IN" sz="1800" dirty="0">
                <a:solidFill>
                  <a:schemeClr val="tx1"/>
                </a:solidFill>
              </a:rPr>
              <a:t>. </a:t>
            </a:r>
          </a:p>
          <a:p>
            <a:pPr algn="l"/>
            <a:endParaRPr lang="en-IN" sz="15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</a:rPr>
              <a:t>The primary configuration file that defines how the http server operates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algn="l"/>
            <a:endParaRPr lang="en-IN" sz="1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400" b="1" dirty="0">
                <a:solidFill>
                  <a:srgbClr val="008000"/>
                </a:solidFill>
                <a:effectLst/>
              </a:rPr>
              <a:t>     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77B86-4923-5EE1-9993-7F8CD33C46CC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C04EC-0870-F41C-8722-3C606E56C031}"/>
              </a:ext>
            </a:extLst>
          </p:cNvPr>
          <p:cNvSpPr txBox="1"/>
          <p:nvPr/>
        </p:nvSpPr>
        <p:spPr>
          <a:xfrm>
            <a:off x="6814268" y="257175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01BC1-3CFC-F782-4676-B6C6781AD474}"/>
              </a:ext>
            </a:extLst>
          </p:cNvPr>
          <p:cNvSpPr txBox="1"/>
          <p:nvPr/>
        </p:nvSpPr>
        <p:spPr>
          <a:xfrm>
            <a:off x="407192" y="1383526"/>
            <a:ext cx="3266311" cy="367424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IN" sz="1000" b="1" dirty="0">
              <a:solidFill>
                <a:srgbClr val="008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ssl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ssl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&lt;port&gt;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system(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http.port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::8080)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&lt;/port&gt;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&lt;logging&gt;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&lt;/logging&gt;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&lt;compression&gt;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&lt;/compression&gt;</a:t>
            </a:r>
          </a:p>
          <a:p>
            <a:pPr algn="l"/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allowedHeaders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allowedMethods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 algn="l"/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&lt;keystore-config/&gt;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&lt;store-name&gt;&lt;/store-name&gt;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&lt;store-password&gt;&lt;/store-password&gt;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&lt;/keystore-config&gt;</a:t>
            </a:r>
          </a:p>
          <a:p>
            <a:pPr algn="l"/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truststore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-config&gt;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&lt;store-name&gt;&lt;/store-name&gt;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&lt;store-password&gt;&lt;/store-password&gt;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truststore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-config&gt;</a:t>
            </a:r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&lt;context-root&gt;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/v1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&lt;/context-root&gt;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54BF-297F-9875-613D-99DE9AE6E10C}"/>
              </a:ext>
            </a:extLst>
          </p:cNvPr>
          <p:cNvSpPr txBox="1"/>
          <p:nvPr/>
        </p:nvSpPr>
        <p:spPr>
          <a:xfrm>
            <a:off x="4142631" y="1383525"/>
            <a:ext cx="3586038" cy="36742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IN" sz="1000" b="1" dirty="0">
              <a:solidFill>
                <a:srgbClr val="008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&lt;access-log&gt;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&lt;log-format&gt;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{formatter}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&lt;/log-format&gt;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&lt;route&gt;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{CTX_ROOT}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&lt;/route&gt;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&lt;/access-log&gt;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N" sz="1000" b="1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&lt;security-constraint&gt;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&lt;auth-handler&gt;&lt;/auth-handler&gt;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&lt;auth-constraint&gt;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&lt;auth-type&gt;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NO_AUTH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&lt;/auth-type&gt;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-patterns&gt;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.......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&lt;/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-patterns&gt;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&lt;/auth-constraint&gt;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&lt;/security-constraint&gt;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&lt;routing-config&gt;</a:t>
            </a:r>
            <a:r>
              <a:rPr lang="en-IN" sz="100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{xml}</a:t>
            </a:r>
            <a:r>
              <a:rPr lang="en-IN" sz="1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&lt;/routing-config&gt;</a:t>
            </a:r>
          </a:p>
        </p:txBody>
      </p:sp>
    </p:spTree>
    <p:extLst>
      <p:ext uri="{BB962C8B-B14F-4D97-AF65-F5344CB8AC3E}">
        <p14:creationId xmlns:p14="http://schemas.microsoft.com/office/powerpoint/2010/main" val="219008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D025-4896-E972-890F-F8B85C0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9FC52ABE-6DB6-3242-28D3-093FDB71A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</a:t>
            </a:r>
            <a:r>
              <a:rPr lang="en-US" dirty="0" err="1"/>
              <a:t>Vert.x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14122-FE82-5E13-7C5D-E3106B738A3B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0D80F5-EA56-EF97-B056-8822B647718F}"/>
              </a:ext>
            </a:extLst>
          </p:cNvPr>
          <p:cNvSpPr txBox="1">
            <a:spLocks/>
          </p:cNvSpPr>
          <p:nvPr/>
        </p:nvSpPr>
        <p:spPr>
          <a:xfrm>
            <a:off x="407192" y="731519"/>
            <a:ext cx="8229600" cy="44119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chemeClr val="tx1"/>
                </a:solidFill>
              </a:rPr>
              <a:t>Introducing </a:t>
            </a:r>
            <a:r>
              <a:rPr lang="en-IN" sz="1800" b="1" dirty="0">
                <a:solidFill>
                  <a:schemeClr val="tx1"/>
                </a:solidFill>
              </a:rPr>
              <a:t>routing-</a:t>
            </a:r>
            <a:r>
              <a:rPr lang="en-IN" sz="1800" b="1" dirty="0" err="1">
                <a:solidFill>
                  <a:schemeClr val="tx1"/>
                </a:solidFill>
              </a:rPr>
              <a:t>config.xml</a:t>
            </a:r>
            <a:r>
              <a:rPr lang="en-IN" sz="1800" dirty="0">
                <a:solidFill>
                  <a:schemeClr val="tx1"/>
                </a:solidFill>
              </a:rPr>
              <a:t>. </a:t>
            </a:r>
          </a:p>
          <a:p>
            <a:pPr algn="l"/>
            <a:endParaRPr lang="en-IN" sz="15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</a:rPr>
              <a:t>Defines mappings between URL paths and the corresponding handlers.</a:t>
            </a:r>
          </a:p>
          <a:p>
            <a:pPr algn="l"/>
            <a:endParaRPr lang="en-IN" sz="1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400" b="1" dirty="0">
                <a:solidFill>
                  <a:srgbClr val="008000"/>
                </a:solidFill>
                <a:effectLst/>
              </a:rPr>
              <a:t> 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&lt;routing-config&gt;</a:t>
            </a:r>
          </a:p>
          <a:p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&lt;package name=”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com.test.app.handler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.handler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&lt;resource-mapping name="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path="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failure="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resource=”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org.javalabs.decl.vertx.container.handler.HttpErrorHandler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&lt;/resource-mapping&gt;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&lt;resource-mapping name="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admin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path="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/admin/*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resource=”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com.test.app.handler.AdminFilter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&lt;/resource-mapping&gt;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&lt;resource-mapping name=”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path="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/employees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resource=”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con.test.app.handler.EmployeeHandler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&lt;mapping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=""        method="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 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&lt;mapping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/: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method="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  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&lt;mapping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/: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method="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  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modify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&lt;mapping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/: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method="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&lt;/resource-mapping&gt;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......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&lt;/routing-config&gt;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6C076-649B-81A9-F788-2ED5852FDD33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942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D92E-0F7A-1C66-0744-93ACFAA3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57D68FBF-FAF8-7618-178C-81DF9702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</a:t>
            </a:r>
            <a:r>
              <a:rPr lang="en-US" dirty="0" err="1"/>
              <a:t>Vert.x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104F7-9CA7-3508-E2CF-31E94E517960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58C55D-51EA-CD9D-28F9-C3144A02DAE2}"/>
              </a:ext>
            </a:extLst>
          </p:cNvPr>
          <p:cNvSpPr txBox="1">
            <a:spLocks/>
          </p:cNvSpPr>
          <p:nvPr/>
        </p:nvSpPr>
        <p:spPr>
          <a:xfrm>
            <a:off x="407192" y="779227"/>
            <a:ext cx="8229600" cy="42785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chemeClr val="tx1"/>
                </a:solidFill>
              </a:rPr>
              <a:t>   Handler with Annotation</a:t>
            </a:r>
            <a:endParaRPr lang="en-IN" sz="1500" dirty="0">
              <a:solidFill>
                <a:schemeClr val="tx1"/>
              </a:solidFill>
            </a:endParaRPr>
          </a:p>
          <a:p>
            <a:pPr algn="l"/>
            <a:endParaRPr lang="en-IN" sz="1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400" b="1" dirty="0">
                <a:solidFill>
                  <a:srgbClr val="008000"/>
                </a:solidFill>
                <a:effectLst/>
              </a:rPr>
              <a:t> 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ResourceMapping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(name = ”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path = "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/employees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public class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EmployeeHandler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@Mapping(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"", method =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HttpMethod.POST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public void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@Mapping(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"", method =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HttpMethod.GET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public void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getAll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@Mapping(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/:id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method =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HttpMethod.GET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@Mapping(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/:id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method =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HttpMethod.PUT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public void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modify()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@Mapping(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uri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”/:id",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 =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HttpMethod.DELETE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public void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remove() {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  <a:endParaRPr lang="en-IN" sz="1000" dirty="0">
              <a:solidFill>
                <a:srgbClr val="0032C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3E2BC-D292-C1EF-2390-A5825CD841CC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121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1ED8-7656-4AA1-E072-8C5BEEFE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F10582E1-B0E5-2EB1-3D1B-0459B1A1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Declarative </a:t>
            </a:r>
            <a:r>
              <a:rPr lang="en-US" dirty="0" err="1"/>
              <a:t>Vert.x</a:t>
            </a:r>
            <a:r>
              <a:rPr lang="en-US" dirty="0"/>
              <a:t> – Bringing Them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71858-EBC2-4F44-4553-B77346028C22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0D77EE-9B7E-D1C4-95C8-EABF97779003}"/>
              </a:ext>
            </a:extLst>
          </p:cNvPr>
          <p:cNvSpPr txBox="1">
            <a:spLocks/>
          </p:cNvSpPr>
          <p:nvPr/>
        </p:nvSpPr>
        <p:spPr>
          <a:xfrm>
            <a:off x="375387" y="825942"/>
            <a:ext cx="8229600" cy="3407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chemeClr val="tx1"/>
                </a:solidFill>
              </a:rPr>
              <a:t>  Start your </a:t>
            </a:r>
            <a:r>
              <a:rPr lang="en-IN" sz="1800" dirty="0" err="1">
                <a:solidFill>
                  <a:schemeClr val="tx1"/>
                </a:solidFill>
              </a:rPr>
              <a:t>Vert.x</a:t>
            </a:r>
            <a:r>
              <a:rPr lang="en-IN" sz="1800" dirty="0">
                <a:solidFill>
                  <a:schemeClr val="tx1"/>
                </a:solidFill>
              </a:rPr>
              <a:t> Container</a:t>
            </a:r>
            <a:endParaRPr lang="en-IN" sz="1500" dirty="0">
              <a:solidFill>
                <a:schemeClr val="tx1"/>
              </a:solidFill>
            </a:endParaRPr>
          </a:p>
          <a:p>
            <a:pPr algn="l"/>
            <a:endParaRPr lang="en-IN" sz="1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N" sz="1400" b="1" dirty="0">
              <a:solidFill>
                <a:srgbClr val="008000"/>
              </a:solidFill>
              <a:effectLst/>
            </a:endParaRPr>
          </a:p>
          <a:p>
            <a:pPr algn="l"/>
            <a:r>
              <a:rPr lang="en-IN" sz="1400" b="1" dirty="0">
                <a:solidFill>
                  <a:srgbClr val="008000"/>
                </a:solidFill>
              </a:rPr>
              <a:t>         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0F0416-C97F-D041-BEBD-6FFB0E2C7DFA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1CF52-35E0-567A-D9BD-0B7E74CF5A86}"/>
              </a:ext>
            </a:extLst>
          </p:cNvPr>
          <p:cNvSpPr txBox="1"/>
          <p:nvPr/>
        </p:nvSpPr>
        <p:spPr>
          <a:xfrm>
            <a:off x="507207" y="1319916"/>
            <a:ext cx="4064793" cy="299764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Empty body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final class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AppMain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.setup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94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EEEF-6A79-3502-54E9-C84A419D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2897C544-8B8B-8BB6-7931-95B25748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6B7E5-75DD-C3FA-8B15-D505A6AF8279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95F5A5-31A8-5FDF-1273-A98F3FD6A5A7}"/>
              </a:ext>
            </a:extLst>
          </p:cNvPr>
          <p:cNvSpPr txBox="1">
            <a:spLocks/>
          </p:cNvSpPr>
          <p:nvPr/>
        </p:nvSpPr>
        <p:spPr>
          <a:xfrm>
            <a:off x="407192" y="629291"/>
            <a:ext cx="8229600" cy="3407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chemeClr val="tx1"/>
                </a:solidFill>
              </a:rPr>
              <a:t>  Comparison -</a:t>
            </a:r>
            <a:endParaRPr lang="en-IN" sz="1500" dirty="0">
              <a:solidFill>
                <a:schemeClr val="tx1"/>
              </a:solidFill>
            </a:endParaRPr>
          </a:p>
          <a:p>
            <a:pPr algn="l"/>
            <a:endParaRPr lang="en-IN" sz="10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N" sz="1400" b="1" dirty="0">
              <a:solidFill>
                <a:srgbClr val="008000"/>
              </a:solidFill>
              <a:effectLst/>
            </a:endParaRPr>
          </a:p>
          <a:p>
            <a:pPr algn="l"/>
            <a:r>
              <a:rPr lang="en-IN" sz="1400" b="1" dirty="0">
                <a:solidFill>
                  <a:srgbClr val="008000"/>
                </a:solidFill>
              </a:rPr>
              <a:t>         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53EA3-7B14-E3F4-9329-1C4CECA3470E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8DADB-E6A7-DC64-77EA-BCF7098BFAB9}"/>
              </a:ext>
            </a:extLst>
          </p:cNvPr>
          <p:cNvSpPr txBox="1"/>
          <p:nvPr/>
        </p:nvSpPr>
        <p:spPr>
          <a:xfrm>
            <a:off x="507207" y="1319916"/>
            <a:ext cx="3993231" cy="1590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Empty body  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final class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AppMain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AppContainer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N" sz="1000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IN" sz="1000" b="1" dirty="0" err="1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.setup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IN" sz="1000" b="1" dirty="0">
                <a:solidFill>
                  <a:srgbClr val="0032C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BB334-D029-2A13-588B-0F99E9A91A98}"/>
              </a:ext>
            </a:extLst>
          </p:cNvPr>
          <p:cNvSpPr txBox="1"/>
          <p:nvPr/>
        </p:nvSpPr>
        <p:spPr>
          <a:xfrm>
            <a:off x="4572000" y="1319916"/>
            <a:ext cx="4064792" cy="367350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1. Set configuration parameter and start </a:t>
            </a:r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Vert.x</a:t>
            </a:r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VertxOptions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options = new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VertxOptions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(); </a:t>
            </a:r>
          </a:p>
          <a:p>
            <a:pPr lvl="1"/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.vertx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(options);</a:t>
            </a:r>
          </a:p>
          <a:p>
            <a:pPr lvl="1"/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2. Deploy set of </a:t>
            </a:r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verticles</a:t>
            </a:r>
            <a:endParaRPr lang="en-IN" sz="1000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worker | HA | thread model | instance count, etc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DeploymentOptions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config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=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new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DeploymentOptions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(); 	</a:t>
            </a:r>
          </a:p>
          <a:p>
            <a:pPr lvl="1"/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vertx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.deployVerticle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({</a:t>
            </a:r>
            <a:r>
              <a:rPr lang="en-IN" sz="1000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verticle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},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config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3. Configure and start http server</a:t>
            </a:r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HttpServerOptions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opt = new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HttpServerOptions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	</a:t>
            </a:r>
          </a:p>
          <a:p>
            <a:pPr lvl="1"/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opt.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setPort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(8080);</a:t>
            </a:r>
            <a:b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 = 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vertx.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createHttpServer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(opt);</a:t>
            </a:r>
          </a:p>
          <a:p>
            <a:pPr lvl="1"/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server.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listen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// 4. Configure router and Register handler(s)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EmployeeHandler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= new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EmployeeHandler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</a:t>
            </a:r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endParaRPr lang="en-IN" sz="1000" b="1" spc="-40" dirty="0">
              <a:solidFill>
                <a:srgbClr val="0032C3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1"/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 route = 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router.route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("/</a:t>
            </a:r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api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/v1/employees");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route.post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("").handler(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::create);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route.get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(”/:id").handler(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::fetch);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route.put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(”/:id").handler(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::modify)</a:t>
            </a:r>
          </a:p>
          <a:p>
            <a:pPr lvl="1"/>
            <a:r>
              <a:rPr lang="en-IN" sz="1000" b="1" spc="-40" dirty="0" err="1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route.delete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(”/:id").handler(</a:t>
            </a:r>
            <a:r>
              <a:rPr lang="en-IN" sz="1000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emp</a:t>
            </a:r>
            <a:r>
              <a:rPr lang="en-IN" sz="1000" b="1" spc="-40" dirty="0">
                <a:solidFill>
                  <a:srgbClr val="0032C3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::remove)</a:t>
            </a:r>
          </a:p>
          <a:p>
            <a:pPr lvl="1"/>
            <a:endParaRPr lang="en-IN" sz="1000" b="1" spc="-40" dirty="0">
              <a:solidFill>
                <a:srgbClr val="63B175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algn="l"/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D5050-9182-6201-8339-A074D744D659}"/>
              </a:ext>
            </a:extLst>
          </p:cNvPr>
          <p:cNvSpPr txBox="1"/>
          <p:nvPr/>
        </p:nvSpPr>
        <p:spPr>
          <a:xfrm>
            <a:off x="507207" y="3070528"/>
            <a:ext cx="3881914" cy="169230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dependency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org.javalabs.decl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-config&lt;/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&gt;2.0.1&lt;/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dependency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endParaRPr lang="en-IN" sz="1000" b="1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dependency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org.javalabs.decl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1000" b="1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vertx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-container&lt;/</a:t>
            </a:r>
            <a:r>
              <a:rPr lang="en-IN" sz="1000" dirty="0" err="1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&gt;2.0.1&lt;/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IN" sz="1000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dependency</a:t>
            </a:r>
            <a:r>
              <a:rPr lang="en-IN" sz="1000" b="1" dirty="0">
                <a:solidFill>
                  <a:srgbClr val="0032C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IN" sz="1000" dirty="0">
              <a:solidFill>
                <a:srgbClr val="0032C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9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DDCE4-5ECE-FA67-1178-31E11ACE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3">
            <a:extLst>
              <a:ext uri="{FF2B5EF4-FFF2-40B4-BE49-F238E27FC236}">
                <a16:creationId xmlns:a16="http://schemas.microsoft.com/office/drawing/2014/main" id="{688A72E1-BBB8-C251-DB28-577AAC87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8" y="85725"/>
            <a:ext cx="8229600" cy="543566"/>
          </a:xfrm>
        </p:spPr>
        <p:txBody>
          <a:bodyPr/>
          <a:lstStyle/>
          <a:p>
            <a:r>
              <a:rPr lang="en-US" dirty="0"/>
              <a:t>Technology Behind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ADC11-1693-C026-91AD-388E940E2E4E}"/>
              </a:ext>
            </a:extLst>
          </p:cNvPr>
          <p:cNvSpPr txBox="1"/>
          <p:nvPr/>
        </p:nvSpPr>
        <p:spPr>
          <a:xfrm>
            <a:off x="1717482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57217-671B-0AE8-BC5E-7AD94DA55003}"/>
              </a:ext>
            </a:extLst>
          </p:cNvPr>
          <p:cNvSpPr txBox="1">
            <a:spLocks/>
          </p:cNvSpPr>
          <p:nvPr/>
        </p:nvSpPr>
        <p:spPr>
          <a:xfrm>
            <a:off x="407192" y="883733"/>
            <a:ext cx="6876203" cy="39268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Java Reflection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/>
                </a:solidFill>
              </a:rPr>
              <a:t>CallSite</a:t>
            </a:r>
            <a:r>
              <a:rPr lang="en-IN" sz="1800" dirty="0">
                <a:solidFill>
                  <a:schemeClr val="tx1"/>
                </a:solidFill>
              </a:rPr>
              <a:t> -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Acts as a "factory" for function objects. It's a holder for a </a:t>
            </a:r>
            <a:r>
              <a:rPr lang="en-IN" sz="1400" b="1" dirty="0" err="1">
                <a:solidFill>
                  <a:schemeClr val="tx1"/>
                </a:solidFill>
              </a:rPr>
              <a:t>MethodHandle</a:t>
            </a:r>
            <a:r>
              <a:rPr lang="en-IN" sz="1400" dirty="0">
                <a:solidFill>
                  <a:schemeClr val="tx1"/>
                </a:solidFill>
              </a:rPr>
              <a:t>, which is the target that is ultimately invoked when the lambda is executed.</a:t>
            </a:r>
          </a:p>
          <a:p>
            <a:pPr algn="l"/>
            <a:endParaRPr lang="en-IN" sz="1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/>
                </a:solidFill>
              </a:rPr>
              <a:t>LambdaMetadataFactory</a:t>
            </a:r>
            <a:r>
              <a:rPr lang="en-IN" sz="1800" dirty="0">
                <a:solidFill>
                  <a:schemeClr val="tx1"/>
                </a:solidFill>
              </a:rPr>
              <a:t> -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A class that is used to create </a:t>
            </a:r>
            <a:r>
              <a:rPr lang="en-IN" sz="1400" b="1" dirty="0" err="1">
                <a:solidFill>
                  <a:schemeClr val="tx1"/>
                </a:solidFill>
              </a:rPr>
              <a:t>CallSite</a:t>
            </a:r>
            <a:r>
              <a:rPr lang="en-IN" sz="1400" dirty="0">
                <a:solidFill>
                  <a:schemeClr val="tx1"/>
                </a:solidFill>
              </a:rPr>
              <a:t> objects and bind them to the implementation of the lambda.</a:t>
            </a:r>
          </a:p>
          <a:p>
            <a:pPr algn="l"/>
            <a:endParaRPr lang="en-IN" sz="1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/>
                </a:solidFill>
              </a:rPr>
              <a:t>InvokedDynamic</a:t>
            </a:r>
            <a:r>
              <a:rPr lang="en-IN" sz="1800" dirty="0">
                <a:solidFill>
                  <a:schemeClr val="tx1"/>
                </a:solidFill>
              </a:rPr>
              <a:t> –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A dynamic invocation instruction that allows the JVM to call methods at runtime based on the information provided by the </a:t>
            </a:r>
            <a:r>
              <a:rPr lang="en-IN" sz="1400" b="1" dirty="0" err="1">
                <a:solidFill>
                  <a:schemeClr val="tx1"/>
                </a:solidFill>
              </a:rPr>
              <a:t>CallSite</a:t>
            </a:r>
            <a:r>
              <a:rPr lang="en-IN" sz="1400" b="1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Java Toolkit – In Memory Compiler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Tool that allows us to compile and execute Java code without writing it to a file.</a:t>
            </a:r>
          </a:p>
          <a:p>
            <a:pPr algn="l"/>
            <a:endParaRPr lang="en-IN" sz="1400" b="1" dirty="0">
              <a:solidFill>
                <a:schemeClr val="tx1"/>
              </a:solidFill>
              <a:effectLst/>
            </a:endParaRPr>
          </a:p>
          <a:p>
            <a:pPr algn="l"/>
            <a:r>
              <a:rPr lang="en-IN" sz="1400" b="1" dirty="0">
                <a:solidFill>
                  <a:schemeClr val="tx1"/>
                </a:solidFill>
              </a:rPr>
              <a:t>         </a:t>
            </a:r>
            <a:endParaRPr lang="en-IN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03429-5CD6-6A12-600E-48DCD66B6EEC}"/>
              </a:ext>
            </a:extLst>
          </p:cNvPr>
          <p:cNvSpPr txBox="1"/>
          <p:nvPr/>
        </p:nvSpPr>
        <p:spPr>
          <a:xfrm>
            <a:off x="7235687" y="13119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3545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nterprise CorpID version 2">
  <a:themeElements>
    <a:clrScheme name="Custom 124">
      <a:dk1>
        <a:srgbClr val="002663"/>
      </a:dk1>
      <a:lt1>
        <a:srgbClr val="FFFFFF"/>
      </a:lt1>
      <a:dk2>
        <a:srgbClr val="006AD2"/>
      </a:dk2>
      <a:lt2>
        <a:srgbClr val="162B73"/>
      </a:lt2>
      <a:accent1>
        <a:srgbClr val="0968CE"/>
      </a:accent1>
      <a:accent2>
        <a:srgbClr val="6F7879"/>
      </a:accent2>
      <a:accent3>
        <a:srgbClr val="13276E"/>
      </a:accent3>
      <a:accent4>
        <a:srgbClr val="D6E6FE"/>
      </a:accent4>
      <a:accent5>
        <a:srgbClr val="BECAF1"/>
      </a:accent5>
      <a:accent6>
        <a:srgbClr val="C7C8C7"/>
      </a:accent6>
      <a:hlink>
        <a:srgbClr val="0069D0"/>
      </a:hlink>
      <a:folHlink>
        <a:srgbClr val="00266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b="0" i="0" dirty="0" smtClean="0">
            <a:solidFill>
              <a:schemeClr val="bg2"/>
            </a:solidFill>
            <a:latin typeface="BentonSans Light" panose="02000503000000020004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032EFCB93EDA4981A80E9550AEBDE8" ma:contentTypeVersion="13" ma:contentTypeDescription="Create a new document." ma:contentTypeScope="" ma:versionID="6173a150f9b0401d42118cd2e18bf899">
  <xsd:schema xmlns:xsd="http://www.w3.org/2001/XMLSchema" xmlns:xs="http://www.w3.org/2001/XMLSchema" xmlns:p="http://schemas.microsoft.com/office/2006/metadata/properties" xmlns:ns2="aec2e510-975a-4b17-9a8a-b8f5c50d5972" xmlns:ns3="ebeab235-3bcc-43ee-b63d-c0f1f059ae09" targetNamespace="http://schemas.microsoft.com/office/2006/metadata/properties" ma:root="true" ma:fieldsID="d5fd5e4c00130f1be6198c2fa209275b" ns2:_="" ns3:_="">
    <xsd:import namespace="aec2e510-975a-4b17-9a8a-b8f5c50d5972"/>
    <xsd:import namespace="ebeab235-3bcc-43ee-b63d-c0f1f059ae0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Open_x0020_with_x0020_Seclor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2e510-975a-4b17-9a8a-b8f5c50d59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ab235-3bcc-43ee-b63d-c0f1f059ae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Open_x0020_with_x0020_Seclore" ma:index="17" nillable="true" ma:displayName="Open with Seclore" ma:hidden="true" ma:internalName="Open_x0020_with_x0020_Seclor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pen_x0020_with_x0020_Seclore xmlns="ebeab235-3bcc-43ee-b63d-c0f1f059ae09" xsi:nil="true"/>
    <SharedWithUsers xmlns="aec2e510-975a-4b17-9a8a-b8f5c50d5972">
      <UserInfo>
        <DisplayName>David Mcgowan</DisplayName>
        <AccountId>182</AccountId>
        <AccountType/>
      </UserInfo>
      <UserInfo>
        <DisplayName>Yogaraj Jayaprakasam</DisplayName>
        <AccountId>114</AccountId>
        <AccountType/>
      </UserInfo>
      <UserInfo>
        <DisplayName>Cheryl Spardi</DisplayName>
        <AccountId>159</AccountId>
        <AccountType/>
      </UserInfo>
      <UserInfo>
        <DisplayName>Linda Li</DisplayName>
        <AccountId>12</AccountId>
        <AccountType/>
      </UserInfo>
      <UserInfo>
        <DisplayName>Leon E Davis</DisplayName>
        <AccountId>110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FA738F5C-0D3E-4689-9E75-7064E0B87C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BBC493-E25D-480C-B38E-659CEF942910}">
  <ds:schemaRefs>
    <ds:schemaRef ds:uri="aec2e510-975a-4b17-9a8a-b8f5c50d5972"/>
    <ds:schemaRef ds:uri="ebeab235-3bcc-43ee-b63d-c0f1f059ae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913A38C-CAEB-4897-999C-89E1280EB3AA}">
  <ds:schemaRefs>
    <ds:schemaRef ds:uri="aec2e510-975a-4b17-9a8a-b8f5c50d5972"/>
    <ds:schemaRef ds:uri="ebeab235-3bcc-43ee-b63d-c0f1f059ae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158f467-f592-4f68-b205-41e7c092277d}" enabled="1" method="Standard" siteId="{66295b3b-c4fd-41af-a077-c0ec2a40e3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Amex</Template>
  <TotalTime>8628</TotalTime>
  <Words>2029</Words>
  <Application>Microsoft Macintosh PowerPoint</Application>
  <PresentationFormat>On-screen Show (16:9)</PresentationFormat>
  <Paragraphs>384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BentonSans Light</vt:lpstr>
      <vt:lpstr>BentonSans LightItalic</vt:lpstr>
      <vt:lpstr>Courier New</vt:lpstr>
      <vt:lpstr>Google Sans</vt:lpstr>
      <vt:lpstr>Guardian Egyp Regular</vt:lpstr>
      <vt:lpstr>Trebuchet MS</vt:lpstr>
      <vt:lpstr>Wingdings 3</vt:lpstr>
      <vt:lpstr>Enterprise CorpID version 2</vt:lpstr>
      <vt:lpstr>Facet</vt:lpstr>
      <vt:lpstr>DECLARATIVE VERT.X </vt:lpstr>
      <vt:lpstr>What Is Declarative Configuration</vt:lpstr>
      <vt:lpstr>Declarative Approach to Define Server Behavior</vt:lpstr>
      <vt:lpstr>Declarative Approach for Routing</vt:lpstr>
      <vt:lpstr>How Vert.x is Configured</vt:lpstr>
      <vt:lpstr>How Vert.x Handles Routing</vt:lpstr>
      <vt:lpstr>Drawbacks of Async Programming</vt:lpstr>
      <vt:lpstr>How Vert.x Handles Routing – Slightly Different Approach</vt:lpstr>
      <vt:lpstr>Declarative Vert.x</vt:lpstr>
      <vt:lpstr>Declarative Vert.x</vt:lpstr>
      <vt:lpstr>Declarative Vert.x</vt:lpstr>
      <vt:lpstr>Declarative Vert.x</vt:lpstr>
      <vt:lpstr>Declarative Vert.x – Bringing Them Together</vt:lpstr>
      <vt:lpstr>Benefits</vt:lpstr>
      <vt:lpstr>Technology Behind 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American Express PowerPoint template</dc:title>
  <dc:subject/>
  <dc:creator>Microsoft Office User</dc:creator>
  <cp:keywords/>
  <dc:description/>
  <cp:lastModifiedBy>Sudiptasish Chanda</cp:lastModifiedBy>
  <cp:revision>130</cp:revision>
  <dcterms:created xsi:type="dcterms:W3CDTF">2018-03-09T15:58:13Z</dcterms:created>
  <dcterms:modified xsi:type="dcterms:W3CDTF">2026-04-23T12:01:41Z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XPAuthor">
    <vt:lpwstr>Emma Gardner</vt:lpwstr>
  </property>
  <property fmtid="{D5CDD505-2E9C-101B-9397-08002B2CF9AE}" pid="3" name="AXPDataClassification">
    <vt:lpwstr>AXP Internal</vt:lpwstr>
  </property>
  <property fmtid="{D5CDD505-2E9C-101B-9397-08002B2CF9AE}" pid="4" name="AXPDataClassificationForSearch">
    <vt:lpwstr>AXPInternal_UniqueSearchString</vt:lpwstr>
  </property>
  <property fmtid="{D5CDD505-2E9C-101B-9397-08002B2CF9AE}" pid="5" name="ContentTypeId">
    <vt:lpwstr>0x010100D5032EFCB93EDA4981A80E9550AEBDE8</vt:lpwstr>
  </property>
</Properties>
</file>